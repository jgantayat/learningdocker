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 foundations. We're going to build mental models, not memorize commands. Seven diagrams: VM vs container, image vs container, architecture, the run flow, lifecycle, Linux internals, and statelessness.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never runs in a vacuum. The whole reason Docker exists is 'works on my machine'. The shipping-container analogy: standardize the box, and any crane, truck or ship handles it without caring what's inside.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important Day 1 idea. A container is NOT a lightweight VM. A VM virtualizes hardware and stacks a full guest OS per app. A container virtualizes the OS — all containers share the host kernel, no guest OS. That removed layer is why containers are MB not GB and start in milliseconds.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image is a read-only template — the blueprint. A container is a running instance of it. One image, many containers. Image is to container as a class is to an object, or a recipe to the cooked dish. Each container adds its own thin writable layer on top of the shared read-only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Client–server. The docker CLI you type into just sends REST API requests; it does no real work. The daemon (dockerd) does everything: builds images, runs containers, manages volumes and networks. The registry (Docker Hub) stores and distributes images. Daemon pulls from / pushes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command, six hidden steps. Client sends the request to the daemon. Daemon checks for the image locally. If missing, pulls from the registry. Creates a container from the image. Allocates a writable layer, a network interface and an IP. Starts it — nginx runs. You typed one line; all of that happened underneath.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container moves through states. docker run is really create + start combined, plus a pull. Created → Running → Stopped → Removed. Pause sits beside Running. Two beginner traps: a stopped container still exists (ps -a to see it), and a container lives only as long as its main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magic demystified. Three ordinary kernel features. Namespaces = what a process can SEE (isolation): PID, NET, MNT, UTS, IPC, USER. cgroups = how much it can USE (limits): CPU, memory, IO, bandwidth. Union FS (OverlayFS) = how images are STACKED: read-only layers plus a thin writable layer on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 that makes it click. Install curl inside container A — it lives only in A's writable layer. Start a brand-new container B from the same image: no curl. Remove a container and its writable layer is destroyed; changes vanish. That's why persistence needs volumes, coming Day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sentences to carry forward. If any feels shaky, revisit that diagram. These are the load-bearing ideas for every later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202E">
                  <a:alpha val="5000"/>
                </a:srgbClr>
              </a:gs>
              <a:gs pos="100000">
                <a:srgbClr val="14202E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800100"/>
            <a:ext cx="4048571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25" kern="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· DAY 1 · FOUNDATIONS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5127560" y="800100"/>
            <a:ext cx="2246040" cy="342900"/>
          </a:xfrm>
          <a:prstGeom prst="roundRect">
            <a:avLst>
              <a:gd name="adj" fmla="val 8333"/>
            </a:avLst>
          </a:prstGeom>
          <a:ln w="14288">
            <a:solidFill>
              <a:srgbClr val="C5D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56148" y="871538"/>
            <a:ext cx="206506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FIELD GUIDE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3421261"/>
            <a:ext cx="12714732" cy="2054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100" b="1" spc="-150" kern="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Docker, drawn out.</a:t>
            </a:r>
            <a:endParaRPr lang="en-US" sz="8100" dirty="0"/>
          </a:p>
        </p:txBody>
      </p:sp>
      <p:sp>
        <p:nvSpPr>
          <p:cNvPr id="7" name="Text 5"/>
          <p:cNvSpPr/>
          <p:nvPr/>
        </p:nvSpPr>
        <p:spPr>
          <a:xfrm>
            <a:off x="914400" y="5704136"/>
            <a:ext cx="7456170" cy="115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mental models for complete beginners. Stop memorizing commands — see how containers, images, the daemon and the kernel actually fit together.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3944600" y="3407569"/>
            <a:ext cx="3429000" cy="3429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9050">
            <a:solidFill>
              <a:srgbClr val="2E6F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92250" y="3293269"/>
            <a:ext cx="1082055" cy="176213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0" name="Text 8"/>
          <p:cNvSpPr/>
          <p:nvPr/>
        </p:nvSpPr>
        <p:spPr>
          <a:xfrm>
            <a:off x="14287500" y="3293269"/>
            <a:ext cx="99976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4173200" y="4645819"/>
            <a:ext cx="2971800" cy="285750"/>
          </a:xfrm>
          <a:prstGeom prst="roundRect">
            <a:avLst>
              <a:gd name="adj" fmla="val 10000"/>
            </a:avLst>
          </a:prstGeom>
          <a:solidFill>
            <a:srgbClr val="2E6FE0">
              <a:alpha val="8000"/>
            </a:srgbClr>
          </a:solidFill>
          <a:ln w="14288">
            <a:solidFill>
              <a:srgbClr val="2E6FE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4301788" y="4660106"/>
            <a:ext cx="280377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writable layer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14173200" y="5026819"/>
            <a:ext cx="2971800" cy="323850"/>
          </a:xfrm>
          <a:prstGeom prst="roundRect">
            <a:avLst>
              <a:gd name="adj" fmla="val 8824"/>
            </a:avLst>
          </a:prstGeom>
          <a:solidFill>
            <a:srgbClr val="F4F7FA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0" y="5445919"/>
            <a:ext cx="2971800" cy="323850"/>
          </a:xfrm>
          <a:prstGeom prst="roundRect">
            <a:avLst>
              <a:gd name="adj" fmla="val 8824"/>
            </a:avLst>
          </a:prstGeom>
          <a:solidFill>
            <a:srgbClr val="F4F7FA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0" y="5865019"/>
            <a:ext cx="2971800" cy="323850"/>
          </a:xfrm>
          <a:prstGeom prst="roundRect">
            <a:avLst>
              <a:gd name="adj" fmla="val 8824"/>
            </a:avLst>
          </a:prstGeom>
          <a:solidFill>
            <a:srgbClr val="F4F7FA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173200" y="6284119"/>
            <a:ext cx="2971800" cy="323850"/>
          </a:xfrm>
          <a:prstGeom prst="roundRect">
            <a:avLst>
              <a:gd name="adj" fmla="val 8824"/>
            </a:avLst>
          </a:prstGeom>
          <a:solidFill>
            <a:srgbClr val="F4F7FA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301788" y="6298406"/>
            <a:ext cx="28037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 image layers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914400" y="9101138"/>
            <a:ext cx="2009775" cy="385763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2038" y="9201150"/>
            <a:ext cx="17907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VM vs Container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3057525" y="9101138"/>
            <a:ext cx="2181523" cy="385763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5163" y="9201150"/>
            <a:ext cx="196244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Image → Container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5372398" y="9101138"/>
            <a:ext cx="1752600" cy="385763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20035" y="9201150"/>
            <a:ext cx="15335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Architecture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7258348" y="9101138"/>
            <a:ext cx="1752600" cy="385763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5985" y="9201150"/>
            <a:ext cx="15335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The run flow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9144298" y="9101138"/>
            <a:ext cx="1495425" cy="385763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91935" y="9201150"/>
            <a:ext cx="12763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Lifecycle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10773073" y="9101138"/>
            <a:ext cx="2095500" cy="385763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20710" y="9201150"/>
            <a:ext cx="18764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Kernel internals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13001923" y="9101138"/>
            <a:ext cx="1838325" cy="385763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149560" y="9201150"/>
            <a:ext cx="16192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Statelessness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202E">
                  <a:alpha val="4000"/>
                </a:srgbClr>
              </a:gs>
              <a:gs pos="100000">
                <a:srgbClr val="14202E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762000" y="609600"/>
            <a:ext cx="23512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25" kern="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DOCKER EXISTS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6885890" y="619125"/>
            <a:ext cx="7163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/ 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914400"/>
            <a:ext cx="18440400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spc="-75" kern="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“But it works on my machine.”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762000" y="1538288"/>
            <a:ext cx="11576685" cy="651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app is never just code. It drags along a runtime, system libraries, env vars and other services. Move it, and any one mismatch breaks everything.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762000" y="2513558"/>
            <a:ext cx="7477125" cy="5932289"/>
          </a:xfrm>
          <a:prstGeom prst="roundRect">
            <a:avLst>
              <a:gd name="adj" fmla="val 963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2038" y="2794546"/>
            <a:ext cx="756475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0" kern="0" dirty="0">
                <a:solidFill>
                  <a:srgbClr val="8A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— THE CHAOS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062038" y="3037433"/>
            <a:ext cx="75647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app a different shape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62038" y="3532733"/>
            <a:ext cx="419100" cy="285750"/>
          </a:xfrm>
          <a:prstGeom prst="roundRect">
            <a:avLst>
              <a:gd name="adj" fmla="val 46667"/>
            </a:avLst>
          </a:prstGeom>
          <a:solidFill>
            <a:srgbClr val="F4F7FA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14488" y="3558927"/>
            <a:ext cx="2727915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 · a specific </a:t>
            </a:r>
            <a:pPr algn="l" indent="0" marL="0">
              <a:buNone/>
            </a:pPr>
            <a:r>
              <a:rPr lang="en-US" sz="142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glibc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062038" y="3932783"/>
            <a:ext cx="419100" cy="28575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14488" y="3958977"/>
            <a:ext cx="251926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vars · config files · paths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062038" y="4332833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14488" y="4359027"/>
            <a:ext cx="2692718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database · a cache · a queue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1062038" y="7745760"/>
            <a:ext cx="6877050" cy="14288"/>
          </a:xfrm>
          <a:prstGeom prst="rect">
            <a:avLst/>
          </a:prstGeom>
          <a:solidFill>
            <a:srgbClr val="C5D0DB"/>
          </a:solidFill>
          <a:ln/>
        </p:spPr>
      </p:sp>
      <p:sp>
        <p:nvSpPr>
          <p:cNvPr id="17" name="Text 15"/>
          <p:cNvSpPr/>
          <p:nvPr/>
        </p:nvSpPr>
        <p:spPr>
          <a:xfrm>
            <a:off x="1062038" y="7931497"/>
            <a:ext cx="7083362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docs, golden images, "config drift" — and it still breaks on the next machine.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8620125" y="5082034"/>
            <a:ext cx="11239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0" kern="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IT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8877300" y="5343971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20" name="Shape 18"/>
          <p:cNvSpPr/>
          <p:nvPr/>
        </p:nvSpPr>
        <p:spPr>
          <a:xfrm>
            <a:off x="10048875" y="2513558"/>
            <a:ext cx="7477125" cy="5932289"/>
          </a:xfrm>
          <a:prstGeom prst="roundRect">
            <a:avLst>
              <a:gd name="adj" fmla="val 963"/>
            </a:avLst>
          </a:prstGeom>
          <a:solidFill>
            <a:srgbClr val="2E6FE0">
              <a:alpha val="3000"/>
            </a:srgbClr>
          </a:solidFill>
          <a:ln w="14288">
            <a:solidFill>
              <a:srgbClr val="2E6F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48913" y="2794546"/>
            <a:ext cx="756475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0" kern="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— THE STANDARD BOX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0348913" y="3037433"/>
            <a:ext cx="75647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+ its whole environment, sealed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348913" y="3532733"/>
            <a:ext cx="2216125" cy="1143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2E6F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95013" y="3870871"/>
            <a:ext cx="323850" cy="247650"/>
          </a:xfrm>
          <a:prstGeom prst="roundRect">
            <a:avLst>
              <a:gd name="adj" fmla="val 11538"/>
            </a:avLst>
          </a:prstGeom>
          <a:ln w="14288">
            <a:solidFill>
              <a:srgbClr val="2E6F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271200" y="4175671"/>
            <a:ext cx="4476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12679338" y="3532733"/>
            <a:ext cx="2216200" cy="1143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2E6F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625513" y="3870871"/>
            <a:ext cx="323850" cy="247650"/>
          </a:xfrm>
          <a:prstGeom prst="roundRect">
            <a:avLst>
              <a:gd name="adj" fmla="val 11538"/>
            </a:avLst>
          </a:prstGeom>
          <a:ln w="14288">
            <a:solidFill>
              <a:srgbClr val="2E6F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601700" y="4175671"/>
            <a:ext cx="4476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15009837" y="3532733"/>
            <a:ext cx="2216125" cy="1143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2E6F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955938" y="3870871"/>
            <a:ext cx="323850" cy="247650"/>
          </a:xfrm>
          <a:prstGeom prst="roundRect">
            <a:avLst>
              <a:gd name="adj" fmla="val 11538"/>
            </a:avLst>
          </a:prstGeom>
          <a:ln w="14288">
            <a:solidFill>
              <a:srgbClr val="2E6F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932125" y="4175671"/>
            <a:ext cx="4476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10348913" y="7745760"/>
            <a:ext cx="6877050" cy="14288"/>
          </a:xfrm>
          <a:prstGeom prst="rect">
            <a:avLst/>
          </a:prstGeom>
          <a:solidFill>
            <a:srgbClr val="2E6FE0"/>
          </a:solidFill>
          <a:ln/>
        </p:spPr>
      </p:sp>
      <p:sp>
        <p:nvSpPr>
          <p:cNvPr id="33" name="Text 31"/>
          <p:cNvSpPr/>
          <p:nvPr/>
        </p:nvSpPr>
        <p:spPr>
          <a:xfrm>
            <a:off x="10348913" y="7931497"/>
            <a:ext cx="7083362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units. Your laptop, a teammate's, a server — same crane handles them all.</a:t>
            </a:r>
            <a:endParaRPr lang="en-US" sz="1425" dirty="0"/>
          </a:p>
        </p:txBody>
      </p:sp>
      <p:sp>
        <p:nvSpPr>
          <p:cNvPr id="34" name="Shape 32"/>
          <p:cNvSpPr/>
          <p:nvPr/>
        </p:nvSpPr>
        <p:spPr>
          <a:xfrm>
            <a:off x="762000" y="8731597"/>
            <a:ext cx="16764000" cy="945803"/>
          </a:xfrm>
          <a:prstGeom prst="roundRect">
            <a:avLst>
              <a:gd name="adj" fmla="val 6042"/>
            </a:avLst>
          </a:prstGeom>
          <a:solidFill>
            <a:srgbClr val="14202E"/>
          </a:solidFill>
          <a:ln/>
        </p:spPr>
      </p:sp>
      <p:sp>
        <p:nvSpPr>
          <p:cNvPr id="35" name="Text 33"/>
          <p:cNvSpPr/>
          <p:nvPr/>
        </p:nvSpPr>
        <p:spPr>
          <a:xfrm>
            <a:off x="1028700" y="8987805"/>
            <a:ext cx="4000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🚢</a:t>
            </a:r>
            <a:endParaRPr lang="en-US" sz="2550" dirty="0"/>
          </a:p>
        </p:txBody>
      </p:sp>
      <p:sp>
        <p:nvSpPr>
          <p:cNvPr id="36" name="Text 34"/>
          <p:cNvSpPr/>
          <p:nvPr/>
        </p:nvSpPr>
        <p:spPr>
          <a:xfrm>
            <a:off x="1524000" y="8922097"/>
            <a:ext cx="16207359" cy="60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shipping-container analogy. </a:t>
            </a:r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standardized steel boxes, loading a ship was chaos — every item a different shape. Standardize the container and any crane, truck or ship moves it without knowing the contents. Docker did that for software.</a:t>
            </a:r>
            <a:endParaRPr lang="en-US" sz="15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202E">
                  <a:alpha val="4000"/>
                </a:srgbClr>
              </a:gs>
              <a:gs pos="100000">
                <a:srgbClr val="14202E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685800" y="533400"/>
            <a:ext cx="373424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25" kern="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01 · THE LAYER STACKS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6962090" y="542925"/>
            <a:ext cx="7163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800100"/>
            <a:ext cx="1860804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75" kern="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container is not a lightweight VM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685800" y="1338263"/>
            <a:ext cx="186080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apps, different foundations. Watch the </a:t>
            </a:r>
            <a:pPr algn="l" indent="0" marL="0">
              <a:buNone/>
            </a:pPr>
            <a:r>
              <a:rPr lang="en-US" sz="1575" b="1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guest-OS layer </a:t>
            </a:r>
            <a:pPr algn="l" indent="0" marL="0">
              <a:buNone/>
            </a:pPr>
            <a:r>
              <a:rPr lang="en-US" sz="1575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disappear.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685800" y="5395913"/>
            <a:ext cx="172854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Machine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00900" y="5457825"/>
            <a:ext cx="18859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virtualizes hardware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685800" y="5772150"/>
            <a:ext cx="2698700" cy="41433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4288">
            <a:solidFill>
              <a:srgbClr val="142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607" y="5891213"/>
            <a:ext cx="2751086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51175" y="5772150"/>
            <a:ext cx="2698775" cy="41433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4288">
            <a:solidFill>
              <a:srgbClr val="142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4981" y="5891213"/>
            <a:ext cx="2751163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6625" y="5772150"/>
            <a:ext cx="2698775" cy="41433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4288">
            <a:solidFill>
              <a:srgbClr val="142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0431" y="5891213"/>
            <a:ext cx="2751163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6253163"/>
            <a:ext cx="2698700" cy="376238"/>
          </a:xfrm>
          <a:prstGeom prst="roundRect">
            <a:avLst>
              <a:gd name="adj" fmla="val 7595"/>
            </a:avLst>
          </a:prstGeom>
          <a:solidFill>
            <a:srgbClr val="F4F7FA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9607" y="6353175"/>
            <a:ext cx="2751086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Bins/Lib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51175" y="6253163"/>
            <a:ext cx="2698775" cy="376238"/>
          </a:xfrm>
          <a:prstGeom prst="roundRect">
            <a:avLst>
              <a:gd name="adj" fmla="val 7595"/>
            </a:avLst>
          </a:prstGeom>
          <a:solidFill>
            <a:srgbClr val="F4F7FA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4981" y="6353175"/>
            <a:ext cx="2751163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Bins/Lib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6625" y="6253163"/>
            <a:ext cx="2698775" cy="376238"/>
          </a:xfrm>
          <a:prstGeom prst="roundRect">
            <a:avLst>
              <a:gd name="adj" fmla="val 7595"/>
            </a:avLst>
          </a:prstGeom>
          <a:solidFill>
            <a:srgbClr val="F4F7FA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31" y="6353175"/>
            <a:ext cx="2751163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Bins/Lib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6696075"/>
            <a:ext cx="2698700" cy="628650"/>
          </a:xfrm>
          <a:prstGeom prst="roundRect">
            <a:avLst>
              <a:gd name="adj" fmla="val 4545"/>
            </a:avLst>
          </a:prstGeom>
          <a:solidFill>
            <a:srgbClr val="2E6FE0">
              <a:alpha val="8000"/>
            </a:srgbClr>
          </a:solidFill>
          <a:ln w="14288">
            <a:solidFill>
              <a:srgbClr val="2E6F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9607" y="6862763"/>
            <a:ext cx="275108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6FE0"/>
                </a:solidFill>
                <a:highlight>
                  <a:srgbClr val="EEF3FD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Guest OS </a:t>
            </a:r>
            <a:pPr algn="ctr" indent="0" marL="0">
              <a:buNone/>
            </a:pPr>
            <a:r>
              <a:rPr lang="en-US" sz="825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kernel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51175" y="6696075"/>
            <a:ext cx="2698775" cy="628650"/>
          </a:xfrm>
          <a:prstGeom prst="roundRect">
            <a:avLst>
              <a:gd name="adj" fmla="val 4545"/>
            </a:avLst>
          </a:prstGeom>
          <a:solidFill>
            <a:srgbClr val="2E6FE0">
              <a:alpha val="8000"/>
            </a:srgbClr>
          </a:solidFill>
          <a:ln w="14288">
            <a:solidFill>
              <a:srgbClr val="2E6F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4981" y="6862763"/>
            <a:ext cx="275116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6FE0"/>
                </a:solidFill>
                <a:highlight>
                  <a:srgbClr val="EEF3FD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Guest OS </a:t>
            </a:r>
            <a:pPr algn="ctr" indent="0" marL="0">
              <a:buNone/>
            </a:pPr>
            <a:r>
              <a:rPr lang="en-US" sz="825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kernel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6625" y="6696075"/>
            <a:ext cx="2698775" cy="628650"/>
          </a:xfrm>
          <a:prstGeom prst="roundRect">
            <a:avLst>
              <a:gd name="adj" fmla="val 4545"/>
            </a:avLst>
          </a:prstGeom>
          <a:solidFill>
            <a:srgbClr val="2E6FE0">
              <a:alpha val="8000"/>
            </a:srgbClr>
          </a:solidFill>
          <a:ln w="14288">
            <a:solidFill>
              <a:srgbClr val="2E6F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31" y="6862763"/>
            <a:ext cx="275116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6FE0"/>
                </a:solidFill>
                <a:highlight>
                  <a:srgbClr val="EEF3FD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Guest OS </a:t>
            </a:r>
            <a:pPr algn="ctr" indent="0" marL="0">
              <a:buNone/>
            </a:pPr>
            <a:r>
              <a:rPr lang="en-US" sz="825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kernel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010650" y="6934200"/>
            <a:ext cx="282178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←×3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5800" y="7391400"/>
            <a:ext cx="8229600" cy="423863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644" y="7510463"/>
            <a:ext cx="844791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Hypervisor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685800" y="7881937"/>
            <a:ext cx="8229600" cy="423863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644" y="8001000"/>
            <a:ext cx="844791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Operating System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685800" y="8372475"/>
            <a:ext cx="8229600" cy="442913"/>
          </a:xfrm>
          <a:prstGeom prst="roundRect">
            <a:avLst>
              <a:gd name="adj" fmla="val 6452"/>
            </a:avLst>
          </a:prstGeom>
          <a:solidFill>
            <a:srgbClr val="14202E"/>
          </a:solidFill>
          <a:ln w="14288">
            <a:solidFill>
              <a:srgbClr val="1420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644" y="8501063"/>
            <a:ext cx="844791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Physical Hardware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9372600" y="5600700"/>
            <a:ext cx="106739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6059150" y="5662613"/>
            <a:ext cx="169735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virtualizes the OS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9372600" y="5976938"/>
            <a:ext cx="2698700" cy="41433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4288">
            <a:solidFill>
              <a:srgbClr val="1420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46407" y="6096000"/>
            <a:ext cx="2751086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2137975" y="5976938"/>
            <a:ext cx="2698775" cy="41433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4288">
            <a:solidFill>
              <a:srgbClr val="1420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111781" y="6096000"/>
            <a:ext cx="2751163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B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903425" y="5976938"/>
            <a:ext cx="2698775" cy="41433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4288">
            <a:solidFill>
              <a:srgbClr val="1420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877231" y="6096000"/>
            <a:ext cx="2751163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C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372600" y="6457950"/>
            <a:ext cx="2698700" cy="376238"/>
          </a:xfrm>
          <a:prstGeom prst="roundRect">
            <a:avLst>
              <a:gd name="adj" fmla="val 7595"/>
            </a:avLst>
          </a:prstGeom>
          <a:solidFill>
            <a:srgbClr val="F4F7FA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46407" y="6557963"/>
            <a:ext cx="2751086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Bins/Lib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2137975" y="6457950"/>
            <a:ext cx="2698775" cy="376238"/>
          </a:xfrm>
          <a:prstGeom prst="roundRect">
            <a:avLst>
              <a:gd name="adj" fmla="val 7595"/>
            </a:avLst>
          </a:prstGeom>
          <a:solidFill>
            <a:srgbClr val="F4F7FA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111781" y="6557963"/>
            <a:ext cx="2751163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Bins/Lib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4903425" y="6457950"/>
            <a:ext cx="2698775" cy="376238"/>
          </a:xfrm>
          <a:prstGeom prst="roundRect">
            <a:avLst>
              <a:gd name="adj" fmla="val 7595"/>
            </a:avLst>
          </a:prstGeom>
          <a:solidFill>
            <a:srgbClr val="F4F7FA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877231" y="6557963"/>
            <a:ext cx="2751163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Bins/Lib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372600" y="6900863"/>
            <a:ext cx="8229600" cy="442913"/>
          </a:xfrm>
          <a:prstGeom prst="roundRect">
            <a:avLst>
              <a:gd name="adj" fmla="val 6452"/>
            </a:avLst>
          </a:prstGeom>
          <a:solidFill>
            <a:srgbClr val="2E6FE0">
              <a:alpha val="4000"/>
            </a:srgbClr>
          </a:solidFill>
          <a:ln w="14288">
            <a:solidFill>
              <a:srgbClr val="2E6FE0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9263444" y="7048500"/>
            <a:ext cx="8447913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guest OS — this whole layer is gone · MB, not GB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372600" y="7410450"/>
            <a:ext cx="8229600" cy="400050"/>
          </a:xfrm>
          <a:prstGeom prst="roundRect">
            <a:avLst>
              <a:gd name="adj" fmla="val 7143"/>
            </a:avLst>
          </a:prstGeom>
          <a:solidFill>
            <a:srgbClr val="2E6FE0">
              <a:alpha val="8000"/>
            </a:srgbClr>
          </a:solidFill>
          <a:ln w="14288">
            <a:solidFill>
              <a:srgbClr val="2E6F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63444" y="7529513"/>
            <a:ext cx="84479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Engine (daemon)</a:t>
            </a:r>
            <a:endParaRPr lang="en-US" sz="1125" dirty="0"/>
          </a:p>
        </p:txBody>
      </p:sp>
      <p:sp>
        <p:nvSpPr>
          <p:cNvPr id="52" name="Shape 50"/>
          <p:cNvSpPr/>
          <p:nvPr/>
        </p:nvSpPr>
        <p:spPr>
          <a:xfrm>
            <a:off x="9372600" y="7877175"/>
            <a:ext cx="8229600" cy="42862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4288">
            <a:solidFill>
              <a:srgbClr val="1420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63444" y="7996238"/>
            <a:ext cx="844791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14202E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OS · </a:t>
            </a:r>
            <a:pPr algn="ctr" indent="0" marL="0">
              <a:buNone/>
            </a:pPr>
            <a:r>
              <a:rPr lang="en-US" sz="1125" b="1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 kernel</a:t>
            </a:r>
            <a:endParaRPr lang="en-US" sz="1125" dirty="0"/>
          </a:p>
        </p:txBody>
      </p:sp>
      <p:sp>
        <p:nvSpPr>
          <p:cNvPr id="54" name="Shape 52"/>
          <p:cNvSpPr/>
          <p:nvPr/>
        </p:nvSpPr>
        <p:spPr>
          <a:xfrm>
            <a:off x="9372600" y="8372475"/>
            <a:ext cx="8229600" cy="442913"/>
          </a:xfrm>
          <a:prstGeom prst="roundRect">
            <a:avLst>
              <a:gd name="adj" fmla="val 6452"/>
            </a:avLst>
          </a:prstGeom>
          <a:solidFill>
            <a:srgbClr val="14202E"/>
          </a:solidFill>
          <a:ln w="14288">
            <a:solidFill>
              <a:srgbClr val="14202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63444" y="8501063"/>
            <a:ext cx="844791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Physical Hardware</a:t>
            </a:r>
            <a:endParaRPr lang="en-US" sz="1125" dirty="0"/>
          </a:p>
        </p:txBody>
      </p:sp>
      <p:sp>
        <p:nvSpPr>
          <p:cNvPr id="56" name="Shape 54"/>
          <p:cNvSpPr/>
          <p:nvPr/>
        </p:nvSpPr>
        <p:spPr>
          <a:xfrm>
            <a:off x="685800" y="9043988"/>
            <a:ext cx="4129088" cy="709613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1538" y="9191625"/>
            <a:ext cx="413337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5" kern="0" dirty="0">
                <a:solidFill>
                  <a:srgbClr val="8A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endParaRPr lang="en-US" sz="975" dirty="0"/>
          </a:p>
        </p:txBody>
      </p:sp>
      <p:sp>
        <p:nvSpPr>
          <p:cNvPr id="58" name="Text 56"/>
          <p:cNvSpPr/>
          <p:nvPr/>
        </p:nvSpPr>
        <p:spPr>
          <a:xfrm>
            <a:off x="871538" y="9372600"/>
            <a:ext cx="4133374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Gigabytes </a:t>
            </a:r>
            <a:pPr algn="l" indent="0" marL="0">
              <a:buNone/>
            </a:pPr>
            <a:r>
              <a:rPr lang="en-US" sz="1425" b="1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Megabytes</a:t>
            </a:r>
            <a:endParaRPr lang="en-US" sz="1425" dirty="0"/>
          </a:p>
        </p:txBody>
      </p:sp>
      <p:sp>
        <p:nvSpPr>
          <p:cNvPr id="59" name="Shape 57"/>
          <p:cNvSpPr/>
          <p:nvPr/>
        </p:nvSpPr>
        <p:spPr>
          <a:xfrm>
            <a:off x="4948238" y="9043988"/>
            <a:ext cx="4129088" cy="709613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33975" y="9191625"/>
            <a:ext cx="413337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5" kern="0" dirty="0">
                <a:solidFill>
                  <a:srgbClr val="8A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STARTUP</a:t>
            </a:r>
            <a:endParaRPr lang="en-US" sz="975" dirty="0"/>
          </a:p>
        </p:txBody>
      </p:sp>
      <p:sp>
        <p:nvSpPr>
          <p:cNvPr id="61" name="Text 59"/>
          <p:cNvSpPr/>
          <p:nvPr/>
        </p:nvSpPr>
        <p:spPr>
          <a:xfrm>
            <a:off x="5133975" y="9372600"/>
            <a:ext cx="4133374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</a:t>
            </a:r>
            <a:pPr algn="l" indent="0" marL="0">
              <a:buNone/>
            </a:pPr>
            <a:r>
              <a:rPr lang="en-US" sz="1425" b="1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Milliseconds</a:t>
            </a:r>
            <a:endParaRPr lang="en-US" sz="1425" dirty="0"/>
          </a:p>
        </p:txBody>
      </p:sp>
      <p:sp>
        <p:nvSpPr>
          <p:cNvPr id="62" name="Shape 60"/>
          <p:cNvSpPr/>
          <p:nvPr/>
        </p:nvSpPr>
        <p:spPr>
          <a:xfrm>
            <a:off x="9210675" y="9043988"/>
            <a:ext cx="4129088" cy="709613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96413" y="9191625"/>
            <a:ext cx="413337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5" kern="0" dirty="0">
                <a:solidFill>
                  <a:srgbClr val="8A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DENSITY / HOST</a:t>
            </a:r>
            <a:endParaRPr lang="en-US" sz="975" dirty="0"/>
          </a:p>
        </p:txBody>
      </p:sp>
      <p:sp>
        <p:nvSpPr>
          <p:cNvPr id="64" name="Text 62"/>
          <p:cNvSpPr/>
          <p:nvPr/>
        </p:nvSpPr>
        <p:spPr>
          <a:xfrm>
            <a:off x="9396413" y="9372600"/>
            <a:ext cx="4133374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 </a:t>
            </a:r>
            <a:pPr algn="l" indent="0" marL="0">
              <a:buNone/>
            </a:pPr>
            <a:r>
              <a:rPr lang="en-US" sz="1425" b="1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Thousands</a:t>
            </a:r>
            <a:endParaRPr lang="en-US" sz="1425" dirty="0"/>
          </a:p>
        </p:txBody>
      </p:sp>
      <p:sp>
        <p:nvSpPr>
          <p:cNvPr id="65" name="Shape 63"/>
          <p:cNvSpPr/>
          <p:nvPr/>
        </p:nvSpPr>
        <p:spPr>
          <a:xfrm>
            <a:off x="13473113" y="9043988"/>
            <a:ext cx="4129088" cy="709613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3658850" y="9191625"/>
            <a:ext cx="413337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5" kern="0" dirty="0">
                <a:solidFill>
                  <a:srgbClr val="8A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ISOLATION</a:t>
            </a:r>
            <a:endParaRPr lang="en-US" sz="975" dirty="0"/>
          </a:p>
        </p:txBody>
      </p:sp>
      <p:sp>
        <p:nvSpPr>
          <p:cNvPr id="67" name="Text 65"/>
          <p:cNvSpPr/>
          <p:nvPr/>
        </p:nvSpPr>
        <p:spPr>
          <a:xfrm>
            <a:off x="13658850" y="9372600"/>
            <a:ext cx="4133374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Hardware-level → Process-level</a:t>
            </a:r>
            <a:endParaRPr lang="en-US" sz="14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202E">
                  <a:alpha val="4000"/>
                </a:srgbClr>
              </a:gs>
              <a:gs pos="100000">
                <a:srgbClr val="14202E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55321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25" kern="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02 · ONE BLUEPRINT, MANY INSTANCES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6885890" y="542925"/>
            <a:ext cx="7163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800100"/>
            <a:ext cx="1844040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75" kern="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vs Container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762000" y="1338263"/>
            <a:ext cx="184404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image is the template. The container is the thing actually running.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299195" y="3864769"/>
            <a:ext cx="196142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 TEMPLATE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47750" y="4174331"/>
            <a:ext cx="2286000" cy="2047875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1420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9200" y="4345781"/>
            <a:ext cx="1943100" cy="361950"/>
          </a:xfrm>
          <a:prstGeom prst="roundRect">
            <a:avLst>
              <a:gd name="adj" fmla="val 7895"/>
            </a:avLst>
          </a:prstGeom>
          <a:solidFill>
            <a:srgbClr val="F4F7FA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95387" y="4360069"/>
            <a:ext cx="19907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code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1219200" y="4793456"/>
            <a:ext cx="1943100" cy="361950"/>
          </a:xfrm>
          <a:prstGeom prst="roundRect">
            <a:avLst>
              <a:gd name="adj" fmla="val 7895"/>
            </a:avLst>
          </a:prstGeom>
          <a:solidFill>
            <a:srgbClr val="F4F7FA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5387" y="4807744"/>
            <a:ext cx="19907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1219200" y="5241131"/>
            <a:ext cx="1943100" cy="361950"/>
          </a:xfrm>
          <a:prstGeom prst="roundRect">
            <a:avLst>
              <a:gd name="adj" fmla="val 7895"/>
            </a:avLst>
          </a:prstGeom>
          <a:solidFill>
            <a:srgbClr val="F4F7FA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95387" y="5255419"/>
            <a:ext cx="19907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 + libs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1219200" y="5688806"/>
            <a:ext cx="1943100" cy="361950"/>
          </a:xfrm>
          <a:prstGeom prst="roundRect">
            <a:avLst>
              <a:gd name="adj" fmla="val 7895"/>
            </a:avLst>
          </a:prstGeom>
          <a:solidFill>
            <a:srgbClr val="F4F7FA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95387" y="5703094"/>
            <a:ext cx="19907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layer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822400" y="6355556"/>
            <a:ext cx="81289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90700" y="6636544"/>
            <a:ext cx="8763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nginx:1.27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52900" y="4774406"/>
            <a:ext cx="1219200" cy="319088"/>
          </a:xfrm>
          <a:prstGeom prst="roundRect">
            <a:avLst>
              <a:gd name="adj" fmla="val 8955"/>
            </a:avLst>
          </a:prstGeom>
          <a:solidFill>
            <a:srgbClr val="2E6FE0"/>
          </a:solidFill>
          <a:ln/>
        </p:spPr>
      </p:sp>
      <p:sp>
        <p:nvSpPr>
          <p:cNvPr id="20" name="Text 18"/>
          <p:cNvSpPr/>
          <p:nvPr/>
        </p:nvSpPr>
        <p:spPr>
          <a:xfrm>
            <a:off x="4286250" y="4841081"/>
            <a:ext cx="1028700" cy="223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7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4514850" y="5169694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4353818" y="5741194"/>
            <a:ext cx="893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instantiate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905500" y="3937620"/>
            <a:ext cx="127825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INSTANCES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05500" y="4247183"/>
            <a:ext cx="3733800" cy="2095500"/>
          </a:xfrm>
          <a:prstGeom prst="roundRect">
            <a:avLst>
              <a:gd name="adj" fmla="val 2727"/>
            </a:avLst>
          </a:prstGeom>
          <a:solidFill>
            <a:srgbClr val="2E6FE0">
              <a:alpha val="3000"/>
            </a:srgbClr>
          </a:solidFill>
          <a:ln w="19050">
            <a:solidFill>
              <a:srgbClr val="2E6F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57900" y="4399583"/>
            <a:ext cx="3429000" cy="285750"/>
          </a:xfrm>
          <a:prstGeom prst="roundRect">
            <a:avLst>
              <a:gd name="adj" fmla="val 10000"/>
            </a:avLst>
          </a:prstGeom>
          <a:solidFill>
            <a:srgbClr val="2E6FE0">
              <a:alpha val="6000"/>
            </a:srgbClr>
          </a:solidFill>
          <a:ln w="14288">
            <a:solidFill>
              <a:srgbClr val="2E6FE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020753" y="4413870"/>
            <a:ext cx="350329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writable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6057900" y="4752008"/>
            <a:ext cx="342900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57900" y="5066333"/>
            <a:ext cx="342900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57900" y="5380658"/>
            <a:ext cx="342900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57900" y="5694983"/>
            <a:ext cx="342900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86450" y="6028358"/>
            <a:ext cx="37719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web-1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9848850" y="4247183"/>
            <a:ext cx="3733800" cy="2095500"/>
          </a:xfrm>
          <a:prstGeom prst="roundRect">
            <a:avLst>
              <a:gd name="adj" fmla="val 2727"/>
            </a:avLst>
          </a:prstGeom>
          <a:solidFill>
            <a:srgbClr val="2E6FE0">
              <a:alpha val="3000"/>
            </a:srgbClr>
          </a:solidFill>
          <a:ln w="19050">
            <a:solidFill>
              <a:srgbClr val="2E6F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01250" y="4399583"/>
            <a:ext cx="3429000" cy="285750"/>
          </a:xfrm>
          <a:prstGeom prst="roundRect">
            <a:avLst>
              <a:gd name="adj" fmla="val 10000"/>
            </a:avLst>
          </a:prstGeom>
          <a:solidFill>
            <a:srgbClr val="2E6FE0">
              <a:alpha val="6000"/>
            </a:srgbClr>
          </a:solidFill>
          <a:ln w="14288">
            <a:solidFill>
              <a:srgbClr val="2E6FE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9964103" y="4413870"/>
            <a:ext cx="350329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writable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10001250" y="4752008"/>
            <a:ext cx="342900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01250" y="5066333"/>
            <a:ext cx="342900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01250" y="5380658"/>
            <a:ext cx="342900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01250" y="5694983"/>
            <a:ext cx="342900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29800" y="6028358"/>
            <a:ext cx="37719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web-2</a:t>
            </a:r>
            <a:endParaRPr lang="en-US" sz="975" dirty="0"/>
          </a:p>
        </p:txBody>
      </p:sp>
      <p:sp>
        <p:nvSpPr>
          <p:cNvPr id="40" name="Shape 38"/>
          <p:cNvSpPr/>
          <p:nvPr/>
        </p:nvSpPr>
        <p:spPr>
          <a:xfrm>
            <a:off x="13792200" y="4247183"/>
            <a:ext cx="3733800" cy="2095500"/>
          </a:xfrm>
          <a:prstGeom prst="roundRect">
            <a:avLst>
              <a:gd name="adj" fmla="val 2727"/>
            </a:avLst>
          </a:prstGeom>
          <a:solidFill>
            <a:srgbClr val="2E6FE0">
              <a:alpha val="3000"/>
            </a:srgbClr>
          </a:solidFill>
          <a:ln w="19050">
            <a:solidFill>
              <a:srgbClr val="2E6F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944600" y="4399583"/>
            <a:ext cx="3429000" cy="285750"/>
          </a:xfrm>
          <a:prstGeom prst="roundRect">
            <a:avLst>
              <a:gd name="adj" fmla="val 10000"/>
            </a:avLst>
          </a:prstGeom>
          <a:solidFill>
            <a:srgbClr val="2E6FE0">
              <a:alpha val="6000"/>
            </a:srgbClr>
          </a:solidFill>
          <a:ln w="14288">
            <a:solidFill>
              <a:srgbClr val="2E6FE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3907453" y="4413870"/>
            <a:ext cx="350329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writable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13944600" y="4752008"/>
            <a:ext cx="342900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944600" y="5066333"/>
            <a:ext cx="342900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944600" y="5380658"/>
            <a:ext cx="342900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944600" y="5694983"/>
            <a:ext cx="3429000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73150" y="6028358"/>
            <a:ext cx="37719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web-3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5905500" y="6495083"/>
            <a:ext cx="12782550" cy="282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</a:t>
            </a:r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</a:t>
            </a:r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below; each container gets its own thin </a:t>
            </a:r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writable layer </a:t>
            </a:r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top. The image is never modified.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762000" y="9001125"/>
            <a:ext cx="8296275" cy="752475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04887" y="9222581"/>
            <a:ext cx="1419523" cy="309563"/>
          </a:xfrm>
          <a:prstGeom prst="roundRect">
            <a:avLst>
              <a:gd name="adj" fmla="val 9231"/>
            </a:avLst>
          </a:prstGeom>
          <a:ln w="14288">
            <a:solidFill>
              <a:srgbClr val="2E6F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14425" y="9284494"/>
            <a:ext cx="1276648" cy="2238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→ object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2595860" y="9260681"/>
            <a:ext cx="622789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image is the </a:t>
            </a:r>
            <a:pPr algn="l" indent="0" marL="0">
              <a:buNone/>
            </a:pPr>
            <a:r>
              <a:rPr lang="en-US" sz="1425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pPr algn="l" indent="0" marL="0">
              <a:buNone/>
            </a:pPr>
            <a:r>
              <a:rPr lang="en-US" sz="1425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each container is an </a:t>
            </a:r>
            <a:pPr algn="l" indent="0" marL="0">
              <a:buNone/>
            </a:pPr>
            <a:r>
              <a:rPr lang="en-US" sz="1425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</a:t>
            </a:r>
            <a:pPr algn="l" indent="0" marL="0">
              <a:buNone/>
            </a:pPr>
            <a:r>
              <a:rPr lang="en-US" sz="1425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instantiated from it.</a:t>
            </a:r>
            <a:endParaRPr lang="en-US" sz="1425" dirty="0"/>
          </a:p>
        </p:txBody>
      </p:sp>
      <p:sp>
        <p:nvSpPr>
          <p:cNvPr id="53" name="Shape 51"/>
          <p:cNvSpPr/>
          <p:nvPr/>
        </p:nvSpPr>
        <p:spPr>
          <a:xfrm>
            <a:off x="9229725" y="9001125"/>
            <a:ext cx="8296275" cy="752475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72613" y="9186863"/>
            <a:ext cx="3619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</a:t>
            </a:r>
            <a:endParaRPr lang="en-US" sz="2250" dirty="0"/>
          </a:p>
        </p:txBody>
      </p:sp>
      <p:sp>
        <p:nvSpPr>
          <p:cNvPr id="55" name="Text 53"/>
          <p:cNvSpPr/>
          <p:nvPr/>
        </p:nvSpPr>
        <p:spPr>
          <a:xfrm>
            <a:off x="9929813" y="9260681"/>
            <a:ext cx="722620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image is the </a:t>
            </a:r>
            <a:pPr algn="l" indent="0" marL="0">
              <a:buNone/>
            </a:pPr>
            <a:r>
              <a:rPr lang="en-US" sz="1425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</a:t>
            </a:r>
            <a:pPr algn="l" indent="0" marL="0">
              <a:buNone/>
            </a:pPr>
            <a:r>
              <a:rPr lang="en-US" sz="1425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each container is a </a:t>
            </a:r>
            <a:pPr algn="l" indent="0" marL="0">
              <a:buNone/>
            </a:pPr>
            <a:r>
              <a:rPr lang="en-US" sz="1425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cooked dish</a:t>
            </a:r>
            <a:pPr algn="l" indent="0" marL="0">
              <a:buNone/>
            </a:pPr>
            <a:r>
              <a:rPr lang="en-US" sz="1425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Many dishes, one recipe.</a:t>
            </a:r>
            <a:endParaRPr lang="en-US" sz="14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202E">
                  <a:alpha val="4000"/>
                </a:srgbClr>
              </a:gs>
              <a:gs pos="100000">
                <a:srgbClr val="14202E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51172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25" kern="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03 · CLIENT–SERVER ARCHITECTURE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6885890" y="542925"/>
            <a:ext cx="7163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800100"/>
            <a:ext cx="1844040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75" kern="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actually does the work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762000" y="1338263"/>
            <a:ext cx="184404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type into the client — but the </a:t>
            </a:r>
            <a:pPr algn="l" indent="0" marL="0">
              <a:buNone/>
            </a:pPr>
            <a:r>
              <a:rPr lang="en-US" sz="1575" b="1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daemon </a:t>
            </a:r>
            <a:pPr algn="l" indent="0" marL="0">
              <a:buNone/>
            </a:pPr>
            <a:r>
              <a:rPr lang="en-US" sz="1575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engine that runs everything.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762000" y="1885950"/>
            <a:ext cx="10406881" cy="7005638"/>
          </a:xfrm>
          <a:prstGeom prst="roundRect">
            <a:avLst>
              <a:gd name="adj" fmla="val 1088"/>
            </a:avLst>
          </a:prstGeom>
          <a:solidFill>
            <a:srgbClr val="FFFFFF">
              <a:alpha val="40000"/>
            </a:srgbClr>
          </a:solidFill>
          <a:ln w="19050">
            <a:solidFill>
              <a:srgbClr val="5B6B7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009650" y="1781175"/>
            <a:ext cx="1379265" cy="176213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1104900" y="1781175"/>
            <a:ext cx="132669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MACHINE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28700" y="4431506"/>
            <a:ext cx="2190750" cy="1876425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9050">
            <a:solidFill>
              <a:srgbClr val="142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57350" y="4660106"/>
            <a:ext cx="10096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0" kern="0" dirty="0">
                <a:solidFill>
                  <a:srgbClr val="8A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CLIENT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466627" y="4917281"/>
            <a:ext cx="14463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Client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257300" y="5269706"/>
            <a:ext cx="1733550" cy="328613"/>
          </a:xfrm>
          <a:prstGeom prst="roundRect">
            <a:avLst>
              <a:gd name="adj" fmla="val 8696"/>
            </a:avLst>
          </a:prstGeom>
          <a:solidFill>
            <a:srgbClr val="14202E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5345906"/>
            <a:ext cx="15811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run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19200" y="5693569"/>
            <a:ext cx="18097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CLI. Sends commands — does no real work itself.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3448050" y="5160169"/>
            <a:ext cx="7010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5" kern="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 API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17565" y="5350669"/>
            <a:ext cx="3619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250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4301505" y="4210050"/>
            <a:ext cx="6600676" cy="2319338"/>
          </a:xfrm>
          <a:prstGeom prst="roundRect">
            <a:avLst>
              <a:gd name="adj" fmla="val 2464"/>
            </a:avLst>
          </a:prstGeom>
          <a:solidFill>
            <a:srgbClr val="2E6FE0">
              <a:alpha val="3000"/>
            </a:srgbClr>
          </a:solidFill>
          <a:ln w="19050">
            <a:solidFill>
              <a:srgbClr val="2E6F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0105" y="4419600"/>
            <a:ext cx="174114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Daemon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10113466" y="4486275"/>
            <a:ext cx="63631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30105" y="4791075"/>
            <a:ext cx="675782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0" kern="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SERVER — the engine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4530105" y="5067300"/>
            <a:ext cx="3028876" cy="390525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4288">
            <a:solidFill>
              <a:srgbClr val="2E6F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58692" y="5167313"/>
            <a:ext cx="286256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 builds images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7644705" y="5067300"/>
            <a:ext cx="3028876" cy="390525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4288">
            <a:solidFill>
              <a:srgbClr val="2E6F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3293" y="5167313"/>
            <a:ext cx="286256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runs containers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4530105" y="5543550"/>
            <a:ext cx="3028876" cy="390525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4288">
            <a:solidFill>
              <a:srgbClr val="2E6F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58692" y="5643563"/>
            <a:ext cx="286256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 manages volumes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7644705" y="5543550"/>
            <a:ext cx="3028876" cy="390525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4288">
            <a:solidFill>
              <a:srgbClr val="2E6F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3293" y="5643563"/>
            <a:ext cx="286256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manages networks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4530105" y="6048375"/>
            <a:ext cx="6143476" cy="14288"/>
          </a:xfrm>
          <a:prstGeom prst="rect">
            <a:avLst/>
          </a:prstGeom>
          <a:solidFill>
            <a:srgbClr val="2E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4530105" y="6157913"/>
            <a:ext cx="63277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objects: images · containers · volumes · networks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11340331" y="5193506"/>
            <a:ext cx="893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 / push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11606064" y="5355431"/>
            <a:ext cx="3619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250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12329071" y="1885950"/>
            <a:ext cx="5196929" cy="7005638"/>
          </a:xfrm>
          <a:prstGeom prst="roundRect">
            <a:avLst>
              <a:gd name="adj" fmla="val 1466"/>
            </a:avLst>
          </a:prstGeom>
          <a:solidFill>
            <a:srgbClr val="14202E"/>
          </a:solidFill>
          <a:ln w="19050">
            <a:solidFill>
              <a:srgbClr val="1420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765610" y="3895725"/>
            <a:ext cx="4000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</a:t>
            </a:r>
            <a:endParaRPr lang="en-US" sz="2550" dirty="0"/>
          </a:p>
        </p:txBody>
      </p:sp>
      <p:sp>
        <p:nvSpPr>
          <p:cNvPr id="36" name="Text 34"/>
          <p:cNvSpPr/>
          <p:nvPr/>
        </p:nvSpPr>
        <p:spPr>
          <a:xfrm>
            <a:off x="14367421" y="4462463"/>
            <a:ext cx="11963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0" kern="0" dirty="0">
                <a:solidFill>
                  <a:srgbClr val="7FA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REGISTRY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14238089" y="4757738"/>
            <a:ext cx="137881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(Docker Hub)</a:t>
            </a:r>
            <a:endParaRPr lang="en-US" sz="1725" dirty="0"/>
          </a:p>
        </p:txBody>
      </p:sp>
      <p:sp>
        <p:nvSpPr>
          <p:cNvPr id="38" name="Text 36"/>
          <p:cNvSpPr/>
          <p:nvPr/>
        </p:nvSpPr>
        <p:spPr>
          <a:xfrm>
            <a:off x="12595227" y="5405438"/>
            <a:ext cx="466461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B6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&amp; distributes images. Like GitHub, but for container images.</a:t>
            </a:r>
            <a:endParaRPr lang="en-US" sz="1125" dirty="0"/>
          </a:p>
        </p:txBody>
      </p:sp>
      <p:sp>
        <p:nvSpPr>
          <p:cNvPr id="39" name="Shape 37"/>
          <p:cNvSpPr/>
          <p:nvPr/>
        </p:nvSpPr>
        <p:spPr>
          <a:xfrm>
            <a:off x="12576721" y="5776913"/>
            <a:ext cx="4701629" cy="323850"/>
          </a:xfrm>
          <a:prstGeom prst="roundRect">
            <a:avLst>
              <a:gd name="adj" fmla="val 8824"/>
            </a:avLst>
          </a:prstGeom>
          <a:ln w="14288">
            <a:solidFill>
              <a:srgbClr val="3A4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705308" y="5857875"/>
            <a:ext cx="458550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6C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nginx:1.27</a:t>
            </a:r>
            <a:endParaRPr lang="en-US" sz="975" dirty="0"/>
          </a:p>
        </p:txBody>
      </p:sp>
      <p:sp>
        <p:nvSpPr>
          <p:cNvPr id="41" name="Shape 39"/>
          <p:cNvSpPr/>
          <p:nvPr/>
        </p:nvSpPr>
        <p:spPr>
          <a:xfrm>
            <a:off x="12576721" y="6167438"/>
            <a:ext cx="4701629" cy="323850"/>
          </a:xfrm>
          <a:prstGeom prst="roundRect">
            <a:avLst>
              <a:gd name="adj" fmla="val 8824"/>
            </a:avLst>
          </a:prstGeom>
          <a:ln w="14288">
            <a:solidFill>
              <a:srgbClr val="3A4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705308" y="6248400"/>
            <a:ext cx="458550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6C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ubuntu:latest</a:t>
            </a:r>
            <a:endParaRPr lang="en-US" sz="975" dirty="0"/>
          </a:p>
        </p:txBody>
      </p:sp>
      <p:sp>
        <p:nvSpPr>
          <p:cNvPr id="43" name="Shape 41"/>
          <p:cNvSpPr/>
          <p:nvPr/>
        </p:nvSpPr>
        <p:spPr>
          <a:xfrm>
            <a:off x="12576721" y="6557963"/>
            <a:ext cx="4701629" cy="323850"/>
          </a:xfrm>
          <a:prstGeom prst="roundRect">
            <a:avLst>
              <a:gd name="adj" fmla="val 8824"/>
            </a:avLst>
          </a:prstGeom>
          <a:ln w="14288">
            <a:solidFill>
              <a:srgbClr val="3A4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705308" y="6638925"/>
            <a:ext cx="458550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6C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postgres:16</a:t>
            </a:r>
            <a:endParaRPr lang="en-US" sz="975" dirty="0"/>
          </a:p>
        </p:txBody>
      </p:sp>
      <p:sp>
        <p:nvSpPr>
          <p:cNvPr id="45" name="Shape 43"/>
          <p:cNvSpPr/>
          <p:nvPr/>
        </p:nvSpPr>
        <p:spPr>
          <a:xfrm>
            <a:off x="762000" y="9120188"/>
            <a:ext cx="16764000" cy="633413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04887" y="9286875"/>
            <a:ext cx="859185" cy="300038"/>
          </a:xfrm>
          <a:prstGeom prst="roundRect">
            <a:avLst>
              <a:gd name="adj" fmla="val 9524"/>
            </a:avLst>
          </a:prstGeom>
          <a:ln w="14288">
            <a:solidFill>
              <a:srgbClr val="2E6F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14425" y="9348788"/>
            <a:ext cx="716310" cy="2143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idea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016472" y="9313069"/>
            <a:ext cx="138438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and daemon are usually on the same machine — but they don't have to be. The client can drive a </a:t>
            </a:r>
            <a:pPr algn="l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</a:t>
            </a:r>
            <a:pPr algn="l" indent="0" marL="0">
              <a:buNone/>
            </a:pPr>
            <a:r>
              <a:rPr lang="en-US" sz="15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daemon over the same REST API.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202E">
                  <a:alpha val="4000"/>
                </a:srgbClr>
              </a:gs>
              <a:gs pos="100000">
                <a:srgbClr val="14202E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456401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25" kern="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04 · ONE COMMAND, SIX STEPS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6885890" y="542925"/>
            <a:ext cx="7163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800100"/>
            <a:ext cx="184404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75" kern="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on </a:t>
            </a:r>
            <a:pPr algn="l" indent="0" marL="0">
              <a:buNone/>
            </a:pPr>
            <a:r>
              <a:rPr lang="en-US" sz="3450" b="1" spc="-75" kern="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nginx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762000" y="1371600"/>
            <a:ext cx="184404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request from your keyboard to a running web server.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762000" y="1919288"/>
            <a:ext cx="5194250" cy="3693319"/>
          </a:xfrm>
          <a:prstGeom prst="roundRect">
            <a:avLst>
              <a:gd name="adj" fmla="val 1547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62724" y="2105025"/>
            <a:ext cx="46493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3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85838" y="2124075"/>
            <a:ext cx="361950" cy="361950"/>
          </a:xfrm>
          <a:prstGeom prst="ellipse">
            <a:avLst/>
          </a:prstGeom>
          <a:solidFill>
            <a:srgbClr val="2E6FE0"/>
          </a:solidFill>
          <a:ln/>
        </p:spPr>
      </p:sp>
      <p:sp>
        <p:nvSpPr>
          <p:cNvPr id="10" name="Text 8"/>
          <p:cNvSpPr/>
          <p:nvPr/>
        </p:nvSpPr>
        <p:spPr>
          <a:xfrm>
            <a:off x="947737" y="212407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985838" y="2638425"/>
            <a:ext cx="522123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→ Daemon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85838" y="2928938"/>
            <a:ext cx="4888973" cy="2245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 packages your command as a REST API request and hands it to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dockerd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5838" y="5136356"/>
            <a:ext cx="4746575" cy="14288"/>
          </a:xfrm>
          <a:prstGeom prst="rect">
            <a:avLst/>
          </a:prstGeom>
          <a:solidFill>
            <a:srgbClr val="C5D0DB"/>
          </a:solidFill>
          <a:ln/>
        </p:spPr>
      </p:sp>
      <p:sp>
        <p:nvSpPr>
          <p:cNvPr id="14" name="Text 12"/>
          <p:cNvSpPr/>
          <p:nvPr/>
        </p:nvSpPr>
        <p:spPr>
          <a:xfrm>
            <a:off x="985838" y="5245894"/>
            <a:ext cx="488897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127700" y="3606403"/>
            <a:ext cx="3238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5D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6546800" y="1919288"/>
            <a:ext cx="5194325" cy="3693319"/>
          </a:xfrm>
          <a:prstGeom prst="roundRect">
            <a:avLst>
              <a:gd name="adj" fmla="val 1547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47599" y="2105025"/>
            <a:ext cx="46493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3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6770638" y="2124075"/>
            <a:ext cx="361950" cy="361950"/>
          </a:xfrm>
          <a:prstGeom prst="ellipse">
            <a:avLst/>
          </a:prstGeom>
          <a:solidFill>
            <a:srgbClr val="2E6FE0"/>
          </a:solidFill>
          <a:ln/>
        </p:spPr>
      </p:sp>
      <p:sp>
        <p:nvSpPr>
          <p:cNvPr id="19" name="Text 17"/>
          <p:cNvSpPr/>
          <p:nvPr/>
        </p:nvSpPr>
        <p:spPr>
          <a:xfrm>
            <a:off x="6732538" y="212407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6770638" y="2638425"/>
            <a:ext cx="522131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cached?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70638" y="2928938"/>
            <a:ext cx="4889049" cy="2245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Daemon checks: is the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already on this machine?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70638" y="5136356"/>
            <a:ext cx="4746650" cy="14288"/>
          </a:xfrm>
          <a:prstGeom prst="rect">
            <a:avLst/>
          </a:prstGeom>
          <a:solidFill>
            <a:srgbClr val="C5D0DB"/>
          </a:solidFill>
          <a:ln/>
        </p:spPr>
      </p:sp>
      <p:sp>
        <p:nvSpPr>
          <p:cNvPr id="23" name="Text 21"/>
          <p:cNvSpPr/>
          <p:nvPr/>
        </p:nvSpPr>
        <p:spPr>
          <a:xfrm>
            <a:off x="6770638" y="5245894"/>
            <a:ext cx="488904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DAEMON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1912575" y="3606403"/>
            <a:ext cx="3238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5D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2331675" y="1919288"/>
            <a:ext cx="5194325" cy="3693319"/>
          </a:xfrm>
          <a:prstGeom prst="roundRect">
            <a:avLst>
              <a:gd name="adj" fmla="val 1547"/>
            </a:avLst>
          </a:prstGeom>
          <a:solidFill>
            <a:srgbClr val="14202E"/>
          </a:solidFill>
          <a:ln w="14288">
            <a:solidFill>
              <a:srgbClr val="1420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932473" y="2105025"/>
            <a:ext cx="46493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3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12555513" y="2124075"/>
            <a:ext cx="361950" cy="361950"/>
          </a:xfrm>
          <a:prstGeom prst="ellipse">
            <a:avLst/>
          </a:prstGeom>
          <a:solidFill>
            <a:srgbClr val="7FA8E0"/>
          </a:solidFill>
          <a:ln/>
        </p:spPr>
      </p:sp>
      <p:sp>
        <p:nvSpPr>
          <p:cNvPr id="28" name="Text 26"/>
          <p:cNvSpPr/>
          <p:nvPr/>
        </p:nvSpPr>
        <p:spPr>
          <a:xfrm>
            <a:off x="12517413" y="212407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12555513" y="2638425"/>
            <a:ext cx="522131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if missing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555513" y="2928938"/>
            <a:ext cx="4889049" cy="2245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6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local? The daemon downloads it from the registry (Docker Hub).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2555513" y="5136356"/>
            <a:ext cx="4746650" cy="14288"/>
          </a:xfrm>
          <a:prstGeom prst="rect">
            <a:avLst/>
          </a:prstGeom>
          <a:solidFill>
            <a:srgbClr val="3A4A5C"/>
          </a:solidFill>
          <a:ln/>
        </p:spPr>
      </p:sp>
      <p:sp>
        <p:nvSpPr>
          <p:cNvPr id="32" name="Text 30"/>
          <p:cNvSpPr/>
          <p:nvPr/>
        </p:nvSpPr>
        <p:spPr>
          <a:xfrm>
            <a:off x="12555513" y="5245894"/>
            <a:ext cx="488904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FA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 ☁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-76200" y="5688806"/>
            <a:ext cx="18440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62000" y="6060281"/>
            <a:ext cx="5191125" cy="3693319"/>
          </a:xfrm>
          <a:prstGeom prst="roundRect">
            <a:avLst>
              <a:gd name="adj" fmla="val 1547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59598" y="6246019"/>
            <a:ext cx="46493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3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550" dirty="0"/>
          </a:p>
        </p:txBody>
      </p:sp>
      <p:sp>
        <p:nvSpPr>
          <p:cNvPr id="36" name="Shape 34"/>
          <p:cNvSpPr/>
          <p:nvPr/>
        </p:nvSpPr>
        <p:spPr>
          <a:xfrm>
            <a:off x="985838" y="6265069"/>
            <a:ext cx="361950" cy="361950"/>
          </a:xfrm>
          <a:prstGeom prst="ellipse">
            <a:avLst/>
          </a:prstGeom>
          <a:solidFill>
            <a:srgbClr val="2E6FE0"/>
          </a:solidFill>
          <a:ln/>
        </p:spPr>
      </p:sp>
      <p:sp>
        <p:nvSpPr>
          <p:cNvPr id="37" name="Text 35"/>
          <p:cNvSpPr/>
          <p:nvPr/>
        </p:nvSpPr>
        <p:spPr>
          <a:xfrm>
            <a:off x="947737" y="6265069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75" dirty="0"/>
          </a:p>
        </p:txBody>
      </p:sp>
      <p:sp>
        <p:nvSpPr>
          <p:cNvPr id="38" name="Text 36"/>
          <p:cNvSpPr/>
          <p:nvPr/>
        </p:nvSpPr>
        <p:spPr>
          <a:xfrm>
            <a:off x="985838" y="6779419"/>
            <a:ext cx="52177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container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85838" y="7069931"/>
            <a:ext cx="4885754" cy="2245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Daemon builds a container from the image — an instance, not yet running.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85838" y="9277350"/>
            <a:ext cx="4743450" cy="14288"/>
          </a:xfrm>
          <a:prstGeom prst="rect">
            <a:avLst/>
          </a:prstGeom>
          <a:solidFill>
            <a:srgbClr val="C5D0DB"/>
          </a:solidFill>
          <a:ln/>
        </p:spPr>
      </p:sp>
      <p:sp>
        <p:nvSpPr>
          <p:cNvPr id="41" name="Text 39"/>
          <p:cNvSpPr/>
          <p:nvPr/>
        </p:nvSpPr>
        <p:spPr>
          <a:xfrm>
            <a:off x="985838" y="9386888"/>
            <a:ext cx="48857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6124575" y="7747397"/>
            <a:ext cx="3238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5D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6543675" y="6060281"/>
            <a:ext cx="5191125" cy="3693319"/>
          </a:xfrm>
          <a:prstGeom prst="roundRect">
            <a:avLst>
              <a:gd name="adj" fmla="val 1547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141273" y="6246019"/>
            <a:ext cx="46493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3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550" dirty="0"/>
          </a:p>
        </p:txBody>
      </p:sp>
      <p:sp>
        <p:nvSpPr>
          <p:cNvPr id="45" name="Shape 43"/>
          <p:cNvSpPr/>
          <p:nvPr/>
        </p:nvSpPr>
        <p:spPr>
          <a:xfrm>
            <a:off x="6767513" y="6265069"/>
            <a:ext cx="361950" cy="361950"/>
          </a:xfrm>
          <a:prstGeom prst="ellipse">
            <a:avLst/>
          </a:prstGeom>
          <a:solidFill>
            <a:srgbClr val="2E6FE0"/>
          </a:solidFill>
          <a:ln/>
        </p:spPr>
      </p:sp>
      <p:sp>
        <p:nvSpPr>
          <p:cNvPr id="46" name="Text 44"/>
          <p:cNvSpPr/>
          <p:nvPr/>
        </p:nvSpPr>
        <p:spPr>
          <a:xfrm>
            <a:off x="6729413" y="6265069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75" dirty="0"/>
          </a:p>
        </p:txBody>
      </p:sp>
      <p:sp>
        <p:nvSpPr>
          <p:cNvPr id="47" name="Text 45"/>
          <p:cNvSpPr/>
          <p:nvPr/>
        </p:nvSpPr>
        <p:spPr>
          <a:xfrm>
            <a:off x="6767513" y="6779419"/>
            <a:ext cx="521779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 resources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767513" y="7069931"/>
            <a:ext cx="4885754" cy="2245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writable layer, a network interface and an IP address are attached.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767513" y="9277350"/>
            <a:ext cx="4743450" cy="14288"/>
          </a:xfrm>
          <a:prstGeom prst="rect">
            <a:avLst/>
          </a:prstGeom>
          <a:solidFill>
            <a:srgbClr val="C5D0DB"/>
          </a:solidFill>
          <a:ln/>
        </p:spPr>
      </p:sp>
      <p:sp>
        <p:nvSpPr>
          <p:cNvPr id="50" name="Text 48"/>
          <p:cNvSpPr/>
          <p:nvPr/>
        </p:nvSpPr>
        <p:spPr>
          <a:xfrm>
            <a:off x="6767513" y="9386888"/>
            <a:ext cx="48857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 · net · ip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11906250" y="7747397"/>
            <a:ext cx="3238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5D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12325350" y="6060281"/>
            <a:ext cx="5200650" cy="3693319"/>
          </a:xfrm>
          <a:prstGeom prst="roundRect">
            <a:avLst>
              <a:gd name="adj" fmla="val 1547"/>
            </a:avLst>
          </a:prstGeom>
          <a:solidFill>
            <a:srgbClr val="2E6FE0">
              <a:alpha val="3000"/>
            </a:srgbClr>
          </a:solidFill>
          <a:ln w="19050">
            <a:solidFill>
              <a:srgbClr val="2E6F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927711" y="6250781"/>
            <a:ext cx="46493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CD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550" dirty="0"/>
          </a:p>
        </p:txBody>
      </p:sp>
      <p:sp>
        <p:nvSpPr>
          <p:cNvPr id="54" name="Shape 52"/>
          <p:cNvSpPr/>
          <p:nvPr/>
        </p:nvSpPr>
        <p:spPr>
          <a:xfrm>
            <a:off x="12553950" y="6269831"/>
            <a:ext cx="361950" cy="361950"/>
          </a:xfrm>
          <a:prstGeom prst="ellipse">
            <a:avLst/>
          </a:prstGeom>
          <a:solidFill>
            <a:srgbClr val="2E6FE0"/>
          </a:solidFill>
          <a:ln/>
        </p:spPr>
      </p:sp>
      <p:sp>
        <p:nvSpPr>
          <p:cNvPr id="55" name="Text 53"/>
          <p:cNvSpPr/>
          <p:nvPr/>
        </p:nvSpPr>
        <p:spPr>
          <a:xfrm>
            <a:off x="12515850" y="6269831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75" dirty="0"/>
          </a:p>
        </p:txBody>
      </p:sp>
      <p:sp>
        <p:nvSpPr>
          <p:cNvPr id="56" name="Text 54"/>
          <p:cNvSpPr/>
          <p:nvPr/>
        </p:nvSpPr>
        <p:spPr>
          <a:xfrm>
            <a:off x="12553950" y="6784181"/>
            <a:ext cx="52177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it ▶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12553950" y="7088981"/>
            <a:ext cx="4885754" cy="2221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container starts and nginx runs. You typed one line — all of this happened underneath.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12553950" y="9272588"/>
            <a:ext cx="4743450" cy="14288"/>
          </a:xfrm>
          <a:prstGeom prst="rect">
            <a:avLst/>
          </a:prstGeom>
          <a:solidFill>
            <a:srgbClr val="2E6FE0"/>
          </a:solidFill>
          <a:ln/>
        </p:spPr>
      </p:sp>
      <p:sp>
        <p:nvSpPr>
          <p:cNvPr id="59" name="Text 57"/>
          <p:cNvSpPr/>
          <p:nvPr/>
        </p:nvSpPr>
        <p:spPr>
          <a:xfrm>
            <a:off x="12553950" y="9382125"/>
            <a:ext cx="48857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202E">
                  <a:alpha val="4000"/>
                </a:srgbClr>
              </a:gs>
              <a:gs pos="100000">
                <a:srgbClr val="14202E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3872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25" kern="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05 · THE STATE MACHINE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6885890" y="542925"/>
            <a:ext cx="7163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800100"/>
            <a:ext cx="1844040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75" kern="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container lifecycle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762000" y="1338263"/>
            <a:ext cx="184404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command is a transition between states. Edge labels are the commands.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762000" y="3869085"/>
            <a:ext cx="1162050" cy="338138"/>
          </a:xfrm>
          <a:prstGeom prst="roundRect">
            <a:avLst>
              <a:gd name="adj" fmla="val 11268"/>
            </a:avLst>
          </a:prstGeom>
          <a:solidFill>
            <a:srgbClr val="2E6FE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945285"/>
            <a:ext cx="9334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057400" y="3926235"/>
            <a:ext cx="8573706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algn="l" indent="0" marL="0">
              <a:buNone/>
            </a:pPr>
            <a:r>
              <a:rPr lang="en-US" sz="1350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</a:t>
            </a:r>
            <a:pPr algn="l"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buNone/>
            </a:pPr>
            <a:r>
              <a:rPr lang="en-US" sz="1350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algn="l"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 an automatic image pull first — the one command you'll use 90% of the time.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2000" y="4500116"/>
            <a:ext cx="1809750" cy="82867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5824" y="4685854"/>
            <a:ext cx="158210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875824" y="4981129"/>
            <a:ext cx="158210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create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925863" y="4770611"/>
            <a:ext cx="4476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692500" y="4932536"/>
            <a:ext cx="914400" cy="163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1650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───→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5651450" y="4492972"/>
            <a:ext cx="2000250" cy="842963"/>
          </a:xfrm>
          <a:prstGeom prst="roundRect">
            <a:avLst>
              <a:gd name="adj" fmla="val 6780"/>
            </a:avLst>
          </a:prstGeom>
          <a:solidFill>
            <a:srgbClr val="2E6FE0">
              <a:alpha val="6000"/>
            </a:srgbClr>
          </a:solidFill>
          <a:ln w="19050">
            <a:solidFill>
              <a:srgbClr val="2E6F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988" y="4683472"/>
            <a:ext cx="178117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▶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5760988" y="4983510"/>
            <a:ext cx="17811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shows in docker ps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8782943" y="4770611"/>
            <a:ext cx="893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 / exit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8772451" y="4932536"/>
            <a:ext cx="914400" cy="163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1650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───→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0731475" y="4500116"/>
            <a:ext cx="1905000" cy="82867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840536" y="4685854"/>
            <a:ext cx="168687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Stopped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0840536" y="4981129"/>
            <a:ext cx="168687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"Exited"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4102060" y="4770611"/>
            <a:ext cx="22480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3757225" y="4932536"/>
            <a:ext cx="914400" cy="163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165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───→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716250" y="4500116"/>
            <a:ext cx="1809750" cy="828675"/>
          </a:xfrm>
          <a:prstGeom prst="roundRect">
            <a:avLst>
              <a:gd name="adj" fmla="val 6897"/>
            </a:avLst>
          </a:prstGeom>
          <a:solidFill>
            <a:srgbClr val="EEF2F6"/>
          </a:solidFill>
          <a:ln w="14288">
            <a:solidFill>
              <a:srgbClr val="8A98A6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5830074" y="4685854"/>
            <a:ext cx="158210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</a:t>
            </a:r>
            <a:endParaRPr lang="en-US" sz="1725" dirty="0"/>
          </a:p>
        </p:txBody>
      </p:sp>
      <p:sp>
        <p:nvSpPr>
          <p:cNvPr id="27" name="Text 25"/>
          <p:cNvSpPr/>
          <p:nvPr/>
        </p:nvSpPr>
        <p:spPr>
          <a:xfrm>
            <a:off x="15830074" y="4981129"/>
            <a:ext cx="158210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8A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gone for good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5226174" y="5507385"/>
            <a:ext cx="13896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pause ⇅ unpause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4857750" y="5745510"/>
            <a:ext cx="2000250" cy="671513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4288">
            <a:solidFill>
              <a:srgbClr val="2E6FE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4899184" y="5874097"/>
            <a:ext cx="191738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Paused ⏸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899184" y="6136035"/>
            <a:ext cx="19173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frozen in place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63189" y="5507385"/>
            <a:ext cx="193387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start (stopped → running again)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762000" y="8724007"/>
            <a:ext cx="8296275" cy="1029593"/>
          </a:xfrm>
          <a:prstGeom prst="roundRect">
            <a:avLst>
              <a:gd name="adj" fmla="val 5551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762000" y="9739313"/>
            <a:ext cx="8296275" cy="14288"/>
          </a:xfrm>
          <a:prstGeom prst="rect">
            <a:avLst/>
          </a:prstGeom>
          <a:solidFill>
            <a:srgbClr val="C5D0DB"/>
          </a:solidFill>
          <a:ln/>
        </p:spPr>
      </p:sp>
      <p:sp>
        <p:nvSpPr>
          <p:cNvPr id="35" name="Shape 33"/>
          <p:cNvSpPr/>
          <p:nvPr/>
        </p:nvSpPr>
        <p:spPr>
          <a:xfrm>
            <a:off x="762000" y="8724007"/>
            <a:ext cx="8296275" cy="14288"/>
          </a:xfrm>
          <a:prstGeom prst="rect">
            <a:avLst/>
          </a:prstGeom>
          <a:solidFill>
            <a:srgbClr val="C5D0DB"/>
          </a:solidFill>
          <a:ln/>
        </p:spPr>
      </p:sp>
      <p:sp>
        <p:nvSpPr>
          <p:cNvPr id="36" name="Shape 34"/>
          <p:cNvSpPr/>
          <p:nvPr/>
        </p:nvSpPr>
        <p:spPr>
          <a:xfrm>
            <a:off x="762000" y="8724007"/>
            <a:ext cx="38100" cy="1029593"/>
          </a:xfrm>
          <a:prstGeom prst="rect">
            <a:avLst/>
          </a:prstGeom>
          <a:solidFill>
            <a:srgbClr val="2E6FE0"/>
          </a:solidFill>
          <a:ln/>
        </p:spPr>
      </p:sp>
      <p:sp>
        <p:nvSpPr>
          <p:cNvPr id="37" name="Shape 35"/>
          <p:cNvSpPr/>
          <p:nvPr/>
        </p:nvSpPr>
        <p:spPr>
          <a:xfrm>
            <a:off x="9043988" y="8724007"/>
            <a:ext cx="14288" cy="1029593"/>
          </a:xfrm>
          <a:prstGeom prst="rect">
            <a:avLst/>
          </a:prstGeom>
          <a:solidFill>
            <a:srgbClr val="C5D0DB"/>
          </a:solidFill>
          <a:ln/>
        </p:spPr>
      </p:sp>
      <p:sp>
        <p:nvSpPr>
          <p:cNvPr id="38" name="Text 36"/>
          <p:cNvSpPr/>
          <p:nvPr/>
        </p:nvSpPr>
        <p:spPr>
          <a:xfrm>
            <a:off x="1009650" y="8890695"/>
            <a:ext cx="860726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stopped container still exists.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1009650" y="9133582"/>
            <a:ext cx="8059531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only running ones. Use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 -a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see the stopped — they keep their name and disk until you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75" dirty="0"/>
          </a:p>
        </p:txBody>
      </p:sp>
      <p:sp>
        <p:nvSpPr>
          <p:cNvPr id="40" name="Shape 38"/>
          <p:cNvSpPr/>
          <p:nvPr/>
        </p:nvSpPr>
        <p:spPr>
          <a:xfrm>
            <a:off x="9229725" y="8724007"/>
            <a:ext cx="8296275" cy="1029593"/>
          </a:xfrm>
          <a:prstGeom prst="roundRect">
            <a:avLst>
              <a:gd name="adj" fmla="val 5551"/>
            </a:avLst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9229725" y="9739313"/>
            <a:ext cx="8296275" cy="14288"/>
          </a:xfrm>
          <a:prstGeom prst="rect">
            <a:avLst/>
          </a:prstGeom>
          <a:solidFill>
            <a:srgbClr val="C5D0DB"/>
          </a:solidFill>
          <a:ln/>
        </p:spPr>
      </p:sp>
      <p:sp>
        <p:nvSpPr>
          <p:cNvPr id="42" name="Shape 40"/>
          <p:cNvSpPr/>
          <p:nvPr/>
        </p:nvSpPr>
        <p:spPr>
          <a:xfrm>
            <a:off x="9229725" y="8724007"/>
            <a:ext cx="8296275" cy="14288"/>
          </a:xfrm>
          <a:prstGeom prst="rect">
            <a:avLst/>
          </a:prstGeom>
          <a:solidFill>
            <a:srgbClr val="C5D0DB"/>
          </a:solidFill>
          <a:ln/>
        </p:spPr>
      </p:sp>
      <p:sp>
        <p:nvSpPr>
          <p:cNvPr id="43" name="Shape 41"/>
          <p:cNvSpPr/>
          <p:nvPr/>
        </p:nvSpPr>
        <p:spPr>
          <a:xfrm>
            <a:off x="9229725" y="8724007"/>
            <a:ext cx="38100" cy="1029593"/>
          </a:xfrm>
          <a:prstGeom prst="rect">
            <a:avLst/>
          </a:prstGeom>
          <a:solidFill>
            <a:srgbClr val="2E6FE0"/>
          </a:solidFill>
          <a:ln/>
        </p:spPr>
      </p:sp>
      <p:sp>
        <p:nvSpPr>
          <p:cNvPr id="44" name="Shape 42"/>
          <p:cNvSpPr/>
          <p:nvPr/>
        </p:nvSpPr>
        <p:spPr>
          <a:xfrm>
            <a:off x="17511713" y="8724007"/>
            <a:ext cx="14288" cy="1029593"/>
          </a:xfrm>
          <a:prstGeom prst="rect">
            <a:avLst/>
          </a:prstGeom>
          <a:solidFill>
            <a:srgbClr val="C5D0DB"/>
          </a:solidFill>
          <a:ln/>
        </p:spPr>
      </p:sp>
      <p:sp>
        <p:nvSpPr>
          <p:cNvPr id="45" name="Text 43"/>
          <p:cNvSpPr/>
          <p:nvPr/>
        </p:nvSpPr>
        <p:spPr>
          <a:xfrm>
            <a:off x="9477375" y="8890695"/>
            <a:ext cx="860726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lives only as long as its main process.</a:t>
            </a:r>
            <a:endParaRPr lang="en-US" sz="1425" dirty="0"/>
          </a:p>
        </p:txBody>
      </p:sp>
      <p:sp>
        <p:nvSpPr>
          <p:cNvPr id="46" name="Text 44"/>
          <p:cNvSpPr/>
          <p:nvPr/>
        </p:nvSpPr>
        <p:spPr>
          <a:xfrm>
            <a:off x="9477375" y="9133582"/>
            <a:ext cx="8059531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container isn't a box that stays open. When its main process exits, it stops. That's why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ubuntu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seems to "do nothing" — give it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14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-it … bash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202E">
                  <a:alpha val="4000"/>
                </a:srgbClr>
              </a:gs>
              <a:gs pos="100000">
                <a:srgbClr val="14202E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650030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25" kern="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06 · THE KERNEL FEATURES BEHIND THE MAGIC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6885890" y="542925"/>
            <a:ext cx="7163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800100"/>
            <a:ext cx="1844040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75" kern="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magic — just three kernel features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762000" y="1338263"/>
            <a:ext cx="184404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container is an ordinary Linux process wearing three pieces of equipment.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762000" y="1885950"/>
            <a:ext cx="5448300" cy="706278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3938" y="2147888"/>
            <a:ext cx="541686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0" kern="0" dirty="0">
                <a:solidFill>
                  <a:srgbClr val="8A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ISOLATION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023938" y="2366963"/>
            <a:ext cx="541686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23938" y="2695575"/>
            <a:ext cx="54168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a process can see”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23938" y="3009900"/>
            <a:ext cx="5072158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 kernel resources so a container sees its own slice — and nothing of the host.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3938" y="3627090"/>
            <a:ext cx="5715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14488" y="3608040"/>
            <a:ext cx="272365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process tree (your app is PID 1)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3938" y="3903315"/>
            <a:ext cx="5715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14488" y="3884265"/>
            <a:ext cx="19625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interfaces, IP, routing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3938" y="4179540"/>
            <a:ext cx="5715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14488" y="4160490"/>
            <a:ext cx="231127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filesystem mounts (own /)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3938" y="4455765"/>
            <a:ext cx="5715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14488" y="4436715"/>
            <a:ext cx="108361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hostname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3938" y="4731990"/>
            <a:ext cx="5715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14488" y="4712940"/>
            <a:ext cx="194955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inter-process comms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3938" y="5008215"/>
            <a:ext cx="5715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14488" y="4989165"/>
            <a:ext cx="25625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container users → host users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19850" y="1885950"/>
            <a:ext cx="5448300" cy="706278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81788" y="2147888"/>
            <a:ext cx="541686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0" kern="0" dirty="0">
                <a:solidFill>
                  <a:srgbClr val="8A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LIMITS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6681788" y="2366963"/>
            <a:ext cx="541686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Groups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681788" y="2695575"/>
            <a:ext cx="54168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much it can use”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681788" y="3009900"/>
            <a:ext cx="5072158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 and cap resource usage — e.g. “at most 512 MB RAM and half a CPU core.”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81788" y="3608040"/>
            <a:ext cx="34840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0920413" y="3608040"/>
            <a:ext cx="7620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 core</a:t>
            </a:r>
            <a:endParaRPr lang="en-US" sz="1125" dirty="0"/>
          </a:p>
        </p:txBody>
      </p:sp>
      <p:sp>
        <p:nvSpPr>
          <p:cNvPr id="31" name="Shape 29"/>
          <p:cNvSpPr/>
          <p:nvPr/>
        </p:nvSpPr>
        <p:spPr>
          <a:xfrm>
            <a:off x="6681788" y="3841403"/>
            <a:ext cx="4924425" cy="11430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32" name="Shape 30"/>
          <p:cNvSpPr/>
          <p:nvPr/>
        </p:nvSpPr>
        <p:spPr>
          <a:xfrm>
            <a:off x="6681788" y="3841403"/>
            <a:ext cx="2462213" cy="114300"/>
          </a:xfrm>
          <a:prstGeom prst="roundRect">
            <a:avLst>
              <a:gd name="adj" fmla="val 50000"/>
            </a:avLst>
          </a:prstGeom>
          <a:solidFill>
            <a:srgbClr val="2E6FE0"/>
          </a:solidFill>
          <a:ln/>
        </p:spPr>
      </p:sp>
      <p:sp>
        <p:nvSpPr>
          <p:cNvPr id="33" name="Text 31"/>
          <p:cNvSpPr/>
          <p:nvPr/>
        </p:nvSpPr>
        <p:spPr>
          <a:xfrm>
            <a:off x="6681788" y="4070003"/>
            <a:ext cx="60059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0748963" y="4070003"/>
            <a:ext cx="9334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 MB cap</a:t>
            </a:r>
            <a:endParaRPr lang="en-US" sz="1125" dirty="0"/>
          </a:p>
        </p:txBody>
      </p:sp>
      <p:sp>
        <p:nvSpPr>
          <p:cNvPr id="35" name="Shape 33"/>
          <p:cNvSpPr/>
          <p:nvPr/>
        </p:nvSpPr>
        <p:spPr>
          <a:xfrm>
            <a:off x="6681788" y="4303365"/>
            <a:ext cx="4924425" cy="11430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36" name="Shape 34"/>
          <p:cNvSpPr/>
          <p:nvPr/>
        </p:nvSpPr>
        <p:spPr>
          <a:xfrm>
            <a:off x="6681788" y="4303365"/>
            <a:ext cx="1871216" cy="114300"/>
          </a:xfrm>
          <a:prstGeom prst="roundRect">
            <a:avLst>
              <a:gd name="adj" fmla="val 50000"/>
            </a:avLst>
          </a:prstGeom>
          <a:solidFill>
            <a:srgbClr val="2E6FE0"/>
          </a:solidFill>
          <a:ln/>
        </p:spPr>
      </p:sp>
      <p:sp>
        <p:nvSpPr>
          <p:cNvPr id="37" name="Text 35"/>
          <p:cNvSpPr/>
          <p:nvPr/>
        </p:nvSpPr>
        <p:spPr>
          <a:xfrm>
            <a:off x="6681788" y="4531965"/>
            <a:ext cx="59732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 I/O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10834688" y="4531965"/>
            <a:ext cx="8477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throttled</a:t>
            </a:r>
            <a:endParaRPr lang="en-US" sz="1125" dirty="0"/>
          </a:p>
        </p:txBody>
      </p:sp>
      <p:sp>
        <p:nvSpPr>
          <p:cNvPr id="39" name="Shape 37"/>
          <p:cNvSpPr/>
          <p:nvPr/>
        </p:nvSpPr>
        <p:spPr>
          <a:xfrm>
            <a:off x="6681788" y="4765328"/>
            <a:ext cx="4924425" cy="11430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40" name="Shape 38"/>
          <p:cNvSpPr/>
          <p:nvPr/>
        </p:nvSpPr>
        <p:spPr>
          <a:xfrm>
            <a:off x="6681788" y="4765328"/>
            <a:ext cx="3053135" cy="114300"/>
          </a:xfrm>
          <a:prstGeom prst="roundRect">
            <a:avLst>
              <a:gd name="adj" fmla="val 50000"/>
            </a:avLst>
          </a:prstGeom>
          <a:solidFill>
            <a:srgbClr val="2E6FE0"/>
          </a:solidFill>
          <a:ln/>
        </p:spPr>
      </p:sp>
      <p:sp>
        <p:nvSpPr>
          <p:cNvPr id="41" name="Text 39"/>
          <p:cNvSpPr/>
          <p:nvPr/>
        </p:nvSpPr>
        <p:spPr>
          <a:xfrm>
            <a:off x="6681788" y="4993928"/>
            <a:ext cx="62262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11006138" y="4993928"/>
            <a:ext cx="676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limited</a:t>
            </a:r>
            <a:endParaRPr lang="en-US" sz="1125" dirty="0"/>
          </a:p>
        </p:txBody>
      </p:sp>
      <p:sp>
        <p:nvSpPr>
          <p:cNvPr id="43" name="Shape 41"/>
          <p:cNvSpPr/>
          <p:nvPr/>
        </p:nvSpPr>
        <p:spPr>
          <a:xfrm>
            <a:off x="6681788" y="5227290"/>
            <a:ext cx="4924425" cy="11430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44" name="Shape 42"/>
          <p:cNvSpPr/>
          <p:nvPr/>
        </p:nvSpPr>
        <p:spPr>
          <a:xfrm>
            <a:off x="6681788" y="5227290"/>
            <a:ext cx="2215976" cy="114300"/>
          </a:xfrm>
          <a:prstGeom prst="roundRect">
            <a:avLst>
              <a:gd name="adj" fmla="val 50000"/>
            </a:avLst>
          </a:prstGeom>
          <a:solidFill>
            <a:srgbClr val="2E6FE0"/>
          </a:solidFill>
          <a:ln/>
        </p:spPr>
      </p:sp>
      <p:sp>
        <p:nvSpPr>
          <p:cNvPr id="45" name="Shape 43"/>
          <p:cNvSpPr/>
          <p:nvPr/>
        </p:nvSpPr>
        <p:spPr>
          <a:xfrm>
            <a:off x="12077700" y="1885950"/>
            <a:ext cx="5448300" cy="706278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339638" y="2147888"/>
            <a:ext cx="541686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0" kern="0" dirty="0">
                <a:solidFill>
                  <a:srgbClr val="8A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12339638" y="2366963"/>
            <a:ext cx="541686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FS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12339638" y="2695575"/>
            <a:ext cx="54168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images are layered”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12339638" y="3009900"/>
            <a:ext cx="5072158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OverlayFS merges stacked read-only layers into one view, adding a writable layer on run.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2339638" y="3627090"/>
            <a:ext cx="4924425" cy="385763"/>
          </a:xfrm>
          <a:prstGeom prst="roundRect">
            <a:avLst>
              <a:gd name="adj" fmla="val 7407"/>
            </a:avLst>
          </a:prstGeom>
          <a:solidFill>
            <a:srgbClr val="2E6FE0">
              <a:alpha val="6000"/>
            </a:srgbClr>
          </a:solidFill>
          <a:ln w="14288">
            <a:solidFill>
              <a:srgbClr val="2E6FE0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12384834" y="3746153"/>
            <a:ext cx="4834033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writable layer (per container)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2339638" y="4079528"/>
            <a:ext cx="4924425" cy="38100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2375309" y="4189065"/>
            <a:ext cx="48530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 layer · app</a:t>
            </a:r>
            <a:endParaRPr lang="en-US" sz="975" dirty="0"/>
          </a:p>
        </p:txBody>
      </p:sp>
      <p:sp>
        <p:nvSpPr>
          <p:cNvPr id="54" name="Shape 52"/>
          <p:cNvSpPr/>
          <p:nvPr/>
        </p:nvSpPr>
        <p:spPr>
          <a:xfrm>
            <a:off x="12339638" y="4527203"/>
            <a:ext cx="4924425" cy="38100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2375309" y="4636740"/>
            <a:ext cx="48530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 layer · libs</a:t>
            </a:r>
            <a:endParaRPr lang="en-US" sz="975" dirty="0"/>
          </a:p>
        </p:txBody>
      </p:sp>
      <p:sp>
        <p:nvSpPr>
          <p:cNvPr id="56" name="Shape 54"/>
          <p:cNvSpPr/>
          <p:nvPr/>
        </p:nvSpPr>
        <p:spPr>
          <a:xfrm>
            <a:off x="12339638" y="4974878"/>
            <a:ext cx="4924425" cy="38100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2375309" y="5084415"/>
            <a:ext cx="48530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 layer · base</a:t>
            </a:r>
            <a:endParaRPr lang="en-US" sz="975" dirty="0"/>
          </a:p>
        </p:txBody>
      </p:sp>
      <p:sp>
        <p:nvSpPr>
          <p:cNvPr id="58" name="Text 56"/>
          <p:cNvSpPr/>
          <p:nvPr/>
        </p:nvSpPr>
        <p:spPr>
          <a:xfrm>
            <a:off x="12339638" y="5489228"/>
            <a:ext cx="5416868" cy="218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layers are shared across images — stored once, never duplicated.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62000" y="9158288"/>
            <a:ext cx="16764000" cy="595313"/>
          </a:xfrm>
          <a:prstGeom prst="roundRect">
            <a:avLst>
              <a:gd name="adj" fmla="val 9600"/>
            </a:avLst>
          </a:prstGeom>
          <a:solidFill>
            <a:srgbClr val="14202E"/>
          </a:solidFill>
          <a:ln/>
        </p:spPr>
      </p:sp>
      <p:sp>
        <p:nvSpPr>
          <p:cNvPr id="60" name="Text 58"/>
          <p:cNvSpPr/>
          <p:nvPr/>
        </p:nvSpPr>
        <p:spPr>
          <a:xfrm>
            <a:off x="1009650" y="9332119"/>
            <a:ext cx="13161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model: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2472854" y="9329738"/>
            <a:ext cx="9487622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B6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Namespaces = </a:t>
            </a:r>
            <a:pPr algn="l" indent="0" marL="0">
              <a:buNone/>
            </a:pPr>
            <a:r>
              <a:rPr lang="en-US" sz="1425" dirty="0">
                <a:solidFill>
                  <a:srgbClr val="7F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see </a:t>
            </a:r>
            <a:pPr algn="l" indent="0" marL="0">
              <a:buNone/>
            </a:pPr>
            <a:r>
              <a:rPr lang="en-US" sz="1425" dirty="0">
                <a:solidFill>
                  <a:srgbClr val="B6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cgroups = </a:t>
            </a:r>
            <a:pPr algn="l" indent="0" marL="0">
              <a:buNone/>
            </a:pPr>
            <a:r>
              <a:rPr lang="en-US" sz="1425" dirty="0">
                <a:solidFill>
                  <a:srgbClr val="7F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use </a:t>
            </a:r>
            <a:pPr algn="l" indent="0" marL="0">
              <a:buNone/>
            </a:pPr>
            <a:r>
              <a:rPr lang="en-US" sz="1425" dirty="0">
                <a:solidFill>
                  <a:srgbClr val="B6C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Union FS = </a:t>
            </a:r>
            <a:pPr algn="l" indent="0" marL="0">
              <a:buNone/>
            </a:pPr>
            <a:r>
              <a:rPr lang="en-US" sz="1425" dirty="0">
                <a:solidFill>
                  <a:srgbClr val="7F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image is assembled</a:t>
            </a:r>
            <a:endParaRPr lang="en-US" sz="14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202E">
                  <a:alpha val="4000"/>
                </a:srgbClr>
              </a:gs>
              <a:gs pos="100000">
                <a:srgbClr val="14202E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594704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25" kern="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07 · THE WRITABLE LAYER IS DISPOSABLE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6885890" y="542925"/>
            <a:ext cx="7163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800100"/>
            <a:ext cx="1844040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75" kern="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Statelessness — each container starts fresh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762000" y="1338263"/>
            <a:ext cx="184404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live in the writable layer. Remove the container and they're gone.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762000" y="1885950"/>
            <a:ext cx="5403800" cy="6733282"/>
          </a:xfrm>
          <a:prstGeom prst="roundRect">
            <a:avLst>
              <a:gd name="adj" fmla="val 1410"/>
            </a:avLst>
          </a:prstGeom>
          <a:solidFill>
            <a:srgbClr val="2E6FE0">
              <a:alpha val="3000"/>
            </a:srgbClr>
          </a:solidFill>
          <a:ln w="19050">
            <a:solidFill>
              <a:srgbClr val="2E6F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0600" y="2114550"/>
            <a:ext cx="117127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119911" y="2176463"/>
            <a:ext cx="893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ubuntu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990600" y="2466975"/>
            <a:ext cx="4946600" cy="352425"/>
          </a:xfrm>
          <a:prstGeom prst="roundRect">
            <a:avLst>
              <a:gd name="adj" fmla="val 10811"/>
            </a:avLst>
          </a:prstGeom>
          <a:solidFill>
            <a:srgbClr val="14202E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" y="2562225"/>
            <a:ext cx="486639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apt-get install curl ✓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990600" y="7561957"/>
            <a:ext cx="4946600" cy="4000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4288">
            <a:solidFill>
              <a:srgbClr val="2E6F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5463" y="7681020"/>
            <a:ext cx="485687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writable layer · has curl ✓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90600" y="8028682"/>
            <a:ext cx="4946600" cy="361950"/>
          </a:xfrm>
          <a:prstGeom prst="roundRect">
            <a:avLst>
              <a:gd name="adj" fmla="val 7895"/>
            </a:avLst>
          </a:prstGeom>
          <a:solidFill>
            <a:srgbClr val="F4F7FA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6413" y="8128695"/>
            <a:ext cx="489497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 read-only image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6451550" y="1885950"/>
            <a:ext cx="5394350" cy="6733282"/>
          </a:xfrm>
          <a:prstGeom prst="roundRect">
            <a:avLst>
              <a:gd name="adj" fmla="val 1413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388" y="2109788"/>
            <a:ext cx="118281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B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210428" y="2171700"/>
            <a:ext cx="155279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image, new run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6675388" y="2462213"/>
            <a:ext cx="4946675" cy="352425"/>
          </a:xfrm>
          <a:prstGeom prst="roundRect">
            <a:avLst>
              <a:gd name="adj" fmla="val 10811"/>
            </a:avLst>
          </a:prstGeom>
          <a:solidFill>
            <a:srgbClr val="14202E"/>
          </a:solidFill>
          <a:ln/>
        </p:spPr>
      </p:sp>
      <p:sp>
        <p:nvSpPr>
          <p:cNvPr id="20" name="Text 18"/>
          <p:cNvSpPr/>
          <p:nvPr/>
        </p:nvSpPr>
        <p:spPr>
          <a:xfrm>
            <a:off x="6789688" y="2557463"/>
            <a:ext cx="48664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E0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curl: not found ✗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6675388" y="7552432"/>
            <a:ext cx="4946675" cy="414338"/>
          </a:xfrm>
          <a:prstGeom prst="roundRect">
            <a:avLst>
              <a:gd name="adj" fmla="val 6897"/>
            </a:avLst>
          </a:prstGeom>
          <a:solidFill>
            <a:srgbClr val="F4F7FA"/>
          </a:solidFill>
          <a:ln w="14288">
            <a:solidFill>
              <a:srgbClr val="C5D0DB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6720250" y="7671495"/>
            <a:ext cx="4856950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writable layer · empty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75388" y="8033445"/>
            <a:ext cx="4946675" cy="361950"/>
          </a:xfrm>
          <a:prstGeom prst="roundRect">
            <a:avLst>
              <a:gd name="adj" fmla="val 7895"/>
            </a:avLst>
          </a:prstGeom>
          <a:solidFill>
            <a:srgbClr val="F4F7FA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01200" y="8133457"/>
            <a:ext cx="48950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 read-only image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12131650" y="1885950"/>
            <a:ext cx="5394350" cy="6733282"/>
          </a:xfrm>
          <a:prstGeom prst="roundRect">
            <a:avLst>
              <a:gd name="adj" fmla="val 1413"/>
            </a:avLst>
          </a:prstGeom>
          <a:solidFill>
            <a:srgbClr val="EEF2F6"/>
          </a:solidFill>
          <a:ln w="14288">
            <a:solidFill>
              <a:srgbClr val="8A98A6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2355488" y="2109788"/>
            <a:ext cx="119419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rm A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6782083" y="2171700"/>
            <a:ext cx="5962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cleanup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12355488" y="2462213"/>
            <a:ext cx="4946675" cy="352425"/>
          </a:xfrm>
          <a:prstGeom prst="roundRect">
            <a:avLst>
              <a:gd name="adj" fmla="val 10811"/>
            </a:avLst>
          </a:prstGeom>
          <a:solidFill>
            <a:srgbClr val="3A4A5C"/>
          </a:solidFill>
          <a:ln/>
        </p:spPr>
      </p:sp>
      <p:sp>
        <p:nvSpPr>
          <p:cNvPr id="29" name="Text 27"/>
          <p:cNvSpPr/>
          <p:nvPr/>
        </p:nvSpPr>
        <p:spPr>
          <a:xfrm>
            <a:off x="12469788" y="2557463"/>
            <a:ext cx="48664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EE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writable layer destroyed</a:t>
            </a:r>
            <a:endParaRPr lang="en-US" sz="975" dirty="0"/>
          </a:p>
        </p:txBody>
      </p:sp>
      <p:sp>
        <p:nvSpPr>
          <p:cNvPr id="30" name="Shape 28"/>
          <p:cNvSpPr/>
          <p:nvPr/>
        </p:nvSpPr>
        <p:spPr>
          <a:xfrm>
            <a:off x="12355488" y="7552432"/>
            <a:ext cx="4946675" cy="414338"/>
          </a:xfrm>
          <a:prstGeom prst="roundRect">
            <a:avLst>
              <a:gd name="adj" fmla="val 6897"/>
            </a:avLst>
          </a:prstGeom>
          <a:solidFill>
            <a:srgbClr val="8A98A6">
              <a:alpha val="8000"/>
            </a:srgbClr>
          </a:solidFill>
          <a:ln w="14288">
            <a:solidFill>
              <a:srgbClr val="8A98A6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2400350" y="7671495"/>
            <a:ext cx="4856950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gone with it ✗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2355488" y="8033445"/>
            <a:ext cx="4946675" cy="361950"/>
          </a:xfrm>
          <a:prstGeom prst="roundRect">
            <a:avLst>
              <a:gd name="adj" fmla="val 7895"/>
            </a:avLst>
          </a:prstGeom>
          <a:solidFill>
            <a:srgbClr val="F4F7FA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381300" y="8133457"/>
            <a:ext cx="48950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untouched, reusable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762000" y="8847832"/>
            <a:ext cx="10893400" cy="905768"/>
          </a:xfrm>
          <a:prstGeom prst="roundRect">
            <a:avLst>
              <a:gd name="adj" fmla="val 6310"/>
            </a:avLst>
          </a:prstGeom>
          <a:solidFill>
            <a:srgbClr val="FFFFFF"/>
          </a:solidFill>
          <a:ln w="14288">
            <a:solidFill>
              <a:srgbClr val="C5D0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4888" y="9033570"/>
            <a:ext cx="10734427" cy="572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4202E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Whatever you change inside a container lives </a:t>
            </a:r>
            <a:pPr algn="l" indent="0" marL="0">
              <a:lnSpc>
                <a:spcPct val="145000"/>
              </a:lnSpc>
              <a:buNone/>
            </a:pPr>
            <a:r>
              <a:rPr lang="en-US" sz="1425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4202E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in that one container's writable layer. A new container from the same image is born clean — and removing a container deletes its layer for good.</a:t>
            </a:r>
            <a:endParaRPr lang="en-US" sz="1425" dirty="0"/>
          </a:p>
        </p:txBody>
      </p:sp>
      <p:sp>
        <p:nvSpPr>
          <p:cNvPr id="36" name="Shape 34"/>
          <p:cNvSpPr/>
          <p:nvPr/>
        </p:nvSpPr>
        <p:spPr>
          <a:xfrm>
            <a:off x="11826850" y="8847832"/>
            <a:ext cx="5699150" cy="905768"/>
          </a:xfrm>
          <a:prstGeom prst="roundRect">
            <a:avLst>
              <a:gd name="adj" fmla="val 6310"/>
            </a:avLst>
          </a:prstGeom>
          <a:solidFill>
            <a:srgbClr val="2E6FE0">
              <a:alpha val="3000"/>
            </a:srgbClr>
          </a:solidFill>
          <a:ln w="19050">
            <a:solidFill>
              <a:srgbClr val="2E6F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074500" y="9093547"/>
            <a:ext cx="5724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0" kern="0" dirty="0">
                <a:solidFill>
                  <a:srgbClr val="2E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— DAY 3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12074500" y="9293572"/>
            <a:ext cx="572423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data to survive? That's volumes.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4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762000" y="609600"/>
            <a:ext cx="31809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25" kern="0" dirty="0">
                <a:solidFill>
                  <a:srgbClr val="7FA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SEVEN MENTAL MODELS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7068800" y="619125"/>
            <a:ext cx="5334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895350"/>
            <a:ext cx="184404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spc="-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these seven sentences forward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62000" y="1743075"/>
            <a:ext cx="8296275" cy="1968103"/>
          </a:xfrm>
          <a:prstGeom prst="roundRect">
            <a:avLst>
              <a:gd name="adj" fmla="val 2904"/>
            </a:avLst>
          </a:prstGeom>
          <a:solidFill>
            <a:srgbClr val="1B2B3D"/>
          </a:solidFill>
          <a:ln w="14288">
            <a:solidFill>
              <a:srgbClr val="3A4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4887" y="1947863"/>
            <a:ext cx="371475" cy="309563"/>
          </a:xfrm>
          <a:prstGeom prst="roundRect">
            <a:avLst>
              <a:gd name="adj" fmla="val 9231"/>
            </a:avLst>
          </a:prstGeom>
          <a:ln w="14288">
            <a:solidFill>
              <a:srgbClr val="3A4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4900" y="2009775"/>
            <a:ext cx="2476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7FA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547813" y="1947863"/>
            <a:ext cx="754936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container is an </a:t>
            </a:r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process 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the host kernel — not a lightweight VM.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229725" y="1743075"/>
            <a:ext cx="8296275" cy="1968103"/>
          </a:xfrm>
          <a:prstGeom prst="roundRect">
            <a:avLst>
              <a:gd name="adj" fmla="val 2904"/>
            </a:avLst>
          </a:prstGeom>
          <a:solidFill>
            <a:srgbClr val="1B2B3D"/>
          </a:solidFill>
          <a:ln w="14288">
            <a:solidFill>
              <a:srgbClr val="3A4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72613" y="1947863"/>
            <a:ext cx="371475" cy="309563"/>
          </a:xfrm>
          <a:prstGeom prst="roundRect">
            <a:avLst>
              <a:gd name="adj" fmla="val 9231"/>
            </a:avLst>
          </a:prstGeom>
          <a:ln w="14288">
            <a:solidFill>
              <a:srgbClr val="3A4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72625" y="2009775"/>
            <a:ext cx="2476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7FA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0015538" y="1947863"/>
            <a:ext cx="7485602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</a:t>
            </a:r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read-only template (class / recipe); a </a:t>
            </a:r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running instance (object / dish).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2000" y="3882628"/>
            <a:ext cx="8296275" cy="1972866"/>
          </a:xfrm>
          <a:prstGeom prst="roundRect">
            <a:avLst>
              <a:gd name="adj" fmla="val 2897"/>
            </a:avLst>
          </a:prstGeom>
          <a:solidFill>
            <a:srgbClr val="1B2B3D"/>
          </a:solidFill>
          <a:ln w="14288">
            <a:solidFill>
              <a:srgbClr val="3A4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4887" y="4087416"/>
            <a:ext cx="371475" cy="309563"/>
          </a:xfrm>
          <a:prstGeom prst="roundRect">
            <a:avLst>
              <a:gd name="adj" fmla="val 9231"/>
            </a:avLst>
          </a:prstGeom>
          <a:ln w="14288">
            <a:solidFill>
              <a:srgbClr val="3A4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4900" y="4149328"/>
            <a:ext cx="2476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7FA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547813" y="4087416"/>
            <a:ext cx="7485602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parts: </a:t>
            </a:r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talks over REST to the </a:t>
            </a:r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daemon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which uses the </a:t>
            </a:r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manages </a:t>
            </a:r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229725" y="3882628"/>
            <a:ext cx="8296275" cy="1972866"/>
          </a:xfrm>
          <a:prstGeom prst="roundRect">
            <a:avLst>
              <a:gd name="adj" fmla="val 2897"/>
            </a:avLst>
          </a:prstGeom>
          <a:solidFill>
            <a:srgbClr val="1B2B3D"/>
          </a:solidFill>
          <a:ln w="14288">
            <a:solidFill>
              <a:srgbClr val="3A4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72613" y="4087416"/>
            <a:ext cx="371475" cy="309563"/>
          </a:xfrm>
          <a:prstGeom prst="roundRect">
            <a:avLst>
              <a:gd name="adj" fmla="val 9231"/>
            </a:avLst>
          </a:prstGeom>
          <a:ln w="14288">
            <a:solidFill>
              <a:srgbClr val="3A4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72625" y="4149328"/>
            <a:ext cx="2476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7FA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0015538" y="4087416"/>
            <a:ext cx="574036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pull (if needed) + </a:t>
            </a:r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all in one line.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62000" y="6026944"/>
            <a:ext cx="8296275" cy="1739503"/>
          </a:xfrm>
          <a:prstGeom prst="roundRect">
            <a:avLst>
              <a:gd name="adj" fmla="val 3285"/>
            </a:avLst>
          </a:prstGeom>
          <a:solidFill>
            <a:srgbClr val="1B2B3D"/>
          </a:solidFill>
          <a:ln w="14288">
            <a:solidFill>
              <a:srgbClr val="3A4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4887" y="6231731"/>
            <a:ext cx="371475" cy="309563"/>
          </a:xfrm>
          <a:prstGeom prst="roundRect">
            <a:avLst>
              <a:gd name="adj" fmla="val 9231"/>
            </a:avLst>
          </a:prstGeom>
          <a:ln w="14288">
            <a:solidFill>
              <a:srgbClr val="3A4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04900" y="6293644"/>
            <a:ext cx="2476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7FA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547813" y="6231731"/>
            <a:ext cx="734701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container lives only as long as its </a:t>
            </a:r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process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stopped ≠ removed (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-a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229725" y="6026944"/>
            <a:ext cx="8296275" cy="1739503"/>
          </a:xfrm>
          <a:prstGeom prst="roundRect">
            <a:avLst>
              <a:gd name="adj" fmla="val 3285"/>
            </a:avLst>
          </a:prstGeom>
          <a:solidFill>
            <a:srgbClr val="1B2B3D"/>
          </a:solidFill>
          <a:ln w="14288">
            <a:solidFill>
              <a:srgbClr val="3A4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72613" y="6231731"/>
            <a:ext cx="371475" cy="309563"/>
          </a:xfrm>
          <a:prstGeom prst="roundRect">
            <a:avLst>
              <a:gd name="adj" fmla="val 9231"/>
            </a:avLst>
          </a:prstGeom>
          <a:ln w="14288">
            <a:solidFill>
              <a:srgbClr val="3A4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72625" y="6293644"/>
            <a:ext cx="2476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7FA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0015538" y="6231731"/>
            <a:ext cx="491280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Namespaces = </a:t>
            </a:r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cgroups = </a:t>
            </a:r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Union FS = </a:t>
            </a:r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62000" y="7937897"/>
            <a:ext cx="16764000" cy="1739503"/>
          </a:xfrm>
          <a:prstGeom prst="roundRect">
            <a:avLst>
              <a:gd name="adj" fmla="val 3285"/>
            </a:avLst>
          </a:prstGeom>
          <a:solidFill>
            <a:srgbClr val="2E6FE0">
              <a:alpha val="10000"/>
            </a:srgbClr>
          </a:solidFill>
          <a:ln w="14288">
            <a:solidFill>
              <a:srgbClr val="2E6F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4887" y="8652867"/>
            <a:ext cx="371475" cy="309563"/>
          </a:xfrm>
          <a:prstGeom prst="roundRect">
            <a:avLst>
              <a:gd name="adj" fmla="val 9231"/>
            </a:avLst>
          </a:prstGeom>
          <a:ln w="14288">
            <a:solidFill>
              <a:srgbClr val="2E6F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04900" y="8714780"/>
            <a:ext cx="2476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7FA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547813" y="8671917"/>
            <a:ext cx="1008205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 are </a:t>
            </a:r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changes live in the disposable writable layer; persistence needs </a:t>
            </a:r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 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(Day 3).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2026-06-25T12:52:37Z</dcterms:created>
  <dcterms:modified xsi:type="dcterms:W3CDTF">2026-06-25T12:52:37Z</dcterms:modified>
</cp:coreProperties>
</file>